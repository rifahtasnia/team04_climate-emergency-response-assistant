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c4f50863b3435e" /><Relationship Type="http://schemas.openxmlformats.org/officeDocument/2006/relationships/extended-properties" Target="/docProps/app.xml" Id="R1ff34c30399744e8" /><Relationship Type="http://schemas.openxmlformats.org/officeDocument/2006/relationships/officeDocument" Target="/ppt/presentation.xml" Id="R43c492389c594b3c" /></Relationships>
</file>

<file path=ppt/presentation.xml><?xml version="1.0" encoding="utf-8"?>
<p:presentation xmlns:p="http://schemas.openxmlformats.org/presentationml/2006/main">
  <p:sldMasterIdLst>
    <p:sldMasterId xmlns:r="http://schemas.openxmlformats.org/officeDocument/2006/relationships" id="2147483648" r:id="R02965669ce46479d"/>
  </p:sldMasterIdLst>
  <p:notesMasterIdLst>
    <p:notesMasterId xmlns:r="http://schemas.openxmlformats.org/officeDocument/2006/relationships" r:id="Rbed7676a09374b02"/>
  </p:notesMasterIdLst>
  <p:sldIdLst>
    <p:sldId xmlns:r="http://schemas.openxmlformats.org/officeDocument/2006/relationships" id="256" r:id="R566edf1ddcf04606"/>
    <p:sldId xmlns:r="http://schemas.openxmlformats.org/officeDocument/2006/relationships" id="257" r:id="Red969252c0744a49"/>
    <p:sldId xmlns:r="http://schemas.openxmlformats.org/officeDocument/2006/relationships" id="258" r:id="R8139a20e4e644f4d"/>
    <p:sldId xmlns:r="http://schemas.openxmlformats.org/officeDocument/2006/relationships" id="259" r:id="R4b8cfc19b23e4c81"/>
    <p:sldId xmlns:r="http://schemas.openxmlformats.org/officeDocument/2006/relationships" id="260" r:id="Ra97adb8bd1674c4d"/>
    <p:sldId xmlns:r="http://schemas.openxmlformats.org/officeDocument/2006/relationships" id="261" r:id="R54092eb84f0946be"/>
    <p:sldId xmlns:r="http://schemas.openxmlformats.org/officeDocument/2006/relationships" id="262" r:id="Re847611f56a440c1"/>
    <p:sldId xmlns:r="http://schemas.openxmlformats.org/officeDocument/2006/relationships" id="263" r:id="R361289df85ff4218"/>
    <p:sldId xmlns:r="http://schemas.openxmlformats.org/officeDocument/2006/relationships" id="264" r:id="R0390ddd0f9584de2"/>
    <p:sldId xmlns:r="http://schemas.openxmlformats.org/officeDocument/2006/relationships" id="265" r:id="Ree9eea82d6564d5d"/>
    <p:sldId xmlns:r="http://schemas.openxmlformats.org/officeDocument/2006/relationships" id="266" r:id="R7a1dea16450a45fc"/>
    <p:sldId xmlns:r="http://schemas.openxmlformats.org/officeDocument/2006/relationships" id="267" r:id="R6b7131763a9a47b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2965669ce46479d" /><Relationship Type="http://schemas.openxmlformats.org/officeDocument/2006/relationships/theme" Target="/ppt/theme/theme1.xml" Id="R3334d40474354bde" /><Relationship Type="http://schemas.openxmlformats.org/officeDocument/2006/relationships/notesMaster" Target="/ppt/notesMasters/notesMaster1.xml" Id="Rbed7676a09374b02" /><Relationship Type="http://schemas.openxmlformats.org/officeDocument/2006/relationships/presProps" Target="/ppt/presProps.xml" Id="R4ff57857682d49d3" /><Relationship Type="http://schemas.openxmlformats.org/officeDocument/2006/relationships/viewProps" Target="/ppt/viewProps.xml" Id="R495d3d37dc164a2a" /><Relationship Type="http://schemas.openxmlformats.org/officeDocument/2006/relationships/tableStyles" Target="/ppt/tableStyles.xml" Id="R7066a99e643849b5" /><Relationship Type="http://schemas.openxmlformats.org/officeDocument/2006/relationships/slide" Target="/ppt/slides/slide1.xml" Id="R566edf1ddcf04606" /><Relationship Type="http://schemas.openxmlformats.org/officeDocument/2006/relationships/slide" Target="/ppt/slides/slide2.xml" Id="Red969252c0744a49" /><Relationship Type="http://schemas.openxmlformats.org/officeDocument/2006/relationships/slide" Target="/ppt/slides/slide3.xml" Id="R8139a20e4e644f4d" /><Relationship Type="http://schemas.openxmlformats.org/officeDocument/2006/relationships/slide" Target="/ppt/slides/slide4.xml" Id="R4b8cfc19b23e4c81" /><Relationship Type="http://schemas.openxmlformats.org/officeDocument/2006/relationships/slide" Target="/ppt/slides/slide5.xml" Id="Ra97adb8bd1674c4d" /><Relationship Type="http://schemas.openxmlformats.org/officeDocument/2006/relationships/slide" Target="/ppt/slides/slide6.xml" Id="R54092eb84f0946be" /><Relationship Type="http://schemas.openxmlformats.org/officeDocument/2006/relationships/slide" Target="/ppt/slides/slide7.xml" Id="Re847611f56a440c1" /><Relationship Type="http://schemas.openxmlformats.org/officeDocument/2006/relationships/slide" Target="/ppt/slides/slide8.xml" Id="R361289df85ff4218" /><Relationship Type="http://schemas.openxmlformats.org/officeDocument/2006/relationships/slide" Target="/ppt/slides/slide9.xml" Id="R0390ddd0f9584de2" /><Relationship Type="http://schemas.openxmlformats.org/officeDocument/2006/relationships/slide" Target="/ppt/slides/slide10.xml" Id="Ree9eea82d6564d5d" /><Relationship Type="http://schemas.openxmlformats.org/officeDocument/2006/relationships/slide" Target="/ppt/slides/slide11.xml" Id="R7a1dea16450a45fc" /><Relationship Type="http://schemas.openxmlformats.org/officeDocument/2006/relationships/slide" Target="/ppt/slides/slide12.xml" Id="R6b7131763a9a47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b77f3f41f7d42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98eb086e0b427a" /><Relationship Type="http://schemas.openxmlformats.org/officeDocument/2006/relationships/notesMaster" Target="/ppt/notesMasters/notesMaster1.xml" Id="Rec7b580cb8bd4a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92e1f301f64788" /><Relationship Type="http://schemas.openxmlformats.org/officeDocument/2006/relationships/notesMaster" Target="/ppt/notesMasters/notesMaster1.xml" Id="Rba2b418af7e841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f65db3eaa142de" /><Relationship Type="http://schemas.openxmlformats.org/officeDocument/2006/relationships/notesMaster" Target="/ppt/notesMasters/notesMaster1.xml" Id="Rb7b4ac6959444a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3b693060eb4838" /><Relationship Type="http://schemas.openxmlformats.org/officeDocument/2006/relationships/notesMaster" Target="/ppt/notesMasters/notesMaster1.xml" Id="Rbdadda4d565c4e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9c554d95b54346" /><Relationship Type="http://schemas.openxmlformats.org/officeDocument/2006/relationships/notesMaster" Target="/ppt/notesMasters/notesMaster1.xml" Id="Rd1ca11eea8294b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0071c4aec74bba" /><Relationship Type="http://schemas.openxmlformats.org/officeDocument/2006/relationships/notesMaster" Target="/ppt/notesMasters/notesMaster1.xml" Id="R1eed312f543f48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1f4d0ac5144b92" /><Relationship Type="http://schemas.openxmlformats.org/officeDocument/2006/relationships/notesMaster" Target="/ppt/notesMasters/notesMaster1.xml" Id="R41f1beb98c5149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f83438fbf0446c" /><Relationship Type="http://schemas.openxmlformats.org/officeDocument/2006/relationships/notesMaster" Target="/ppt/notesMasters/notesMaster1.xml" Id="R9588cd9f2b6746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3fb7b1fcdb4e10" /><Relationship Type="http://schemas.openxmlformats.org/officeDocument/2006/relationships/notesMaster" Target="/ppt/notesMasters/notesMaster1.xml" Id="Re4730275e23d4e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a7d6fa0ab84b84" /><Relationship Type="http://schemas.openxmlformats.org/officeDocument/2006/relationships/notesMaster" Target="/ppt/notesMasters/notesMaster1.xml" Id="R3a615e4b670046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0d1995b447481e" /><Relationship Type="http://schemas.openxmlformats.org/officeDocument/2006/relationships/notesMaster" Target="/ppt/notesMasters/notesMaster1.xml" Id="R5bfb80d15bce45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8aef1ed332469a" /><Relationship Type="http://schemas.openxmlformats.org/officeDocument/2006/relationships/notesMaster" Target="/ppt/notesMasters/notesMaster1.xml" Id="R83150874b90a40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a severe flood, the problem is not silence. It is a flood of disconnected signals. A resident may report a mobility need, a road may close, a shelter may have capacity, and a volunteer may be nearby. Without one trusted operating picture, the people with the greatest need wait the longest.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response fails at the coordination point. Unstructured reports, community offers, and changing conditions all arrive at one manual bottleneck. The result is delayed priority, unused capacity, and a dangerous temptation to automate decisions before evidence is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connects the full response loop without removing human authority. The system structures the request, supports verification, finds compatible verified resources, calculates route options, and then waits for a coordinator to authorize action. Every decision remains visible and auditable.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user gets a focused interface. Residents do not see a command dashboard. Volunteers and shelter providers do not authorize assignments. Coordinators do not have to reinterpret disconnected forms. All three experiences contribute to one shared operational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concrete parts. Residents, community providers, and live sources supply current inputs. Seven specialized agents structure alerts, risk, guidance, vulnerability, volunteers, routing, and summaries. Nominatim, Open-Meteo, Overpass, OSRM, and Gemini or the rules fallback provide operational services. The result is a priority queue, response plan, public guidance, and audit record that still require human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severe report can still be uncertain, and a well-corroborated report can still be low severity. AEGIS keeps those dimensions separate. This prevents false certainty while still escalating cases that contain life-safety or accessibility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resident starts from Get help. They enter a name or initials, search their real location, choose the help they need, and identify anyone who may require priority support. The interface also makes clear that immediate life danger still requires the local emergency service. The submitted request goes to a coordinator for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Offer support path contains two registration modes. Volunteers provide a location, skills, travel radius, and availability. Shelter providers publish spaces and operational constraints such as accessibility, pets, and backup power. Nothing is exposed or assigned until an authorized coordinator verifies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begins with real reports and a searched incident location. AEGIS automatically finds nearby public-safety staging candidates and allows multiple sites for parallel response. The coordinator verifies volunteer and shelter offers, reviews the proposed route, and authorizes the plan. Every step contributes to the final audit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we act as a municipal or NGO duty officer. We enter real inputs, show live location and weather, inspect evidence and vulnerability, choose staging and resources, review the route, authorize a bilingual alert, and finish with the accountability record. The entire narrative takes two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uses current reports and live services for active response. Gemini structures the assessment when available, and a deterministic rules engine preserves the workflow when it is not. Historical climate, survey, and emissions datasets support preparedness and product calibration. They are deliberately separated from active incident triage to avoid geographic or demographic bias.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societal value extends across the whole emergency cycle. Before a flood, cities and NGOs can understand readiness gaps. During the event, they can coordinate verified help around vulnerability and real conditions. Afterward, they can review the complete decision record and improve the next response. AEGIS turns one request into coordinated action people can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dab36b7fc149d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724db5cb0dd04b11" /><Relationship Type="http://schemas.openxmlformats.org/officeDocument/2006/relationships/slideLayout" Target="/ppt/slideLayouts/slideLayout2.xml" Id="Rf75a68d0e4164f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5a68d0e4164f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255fb590fae4cbe" /><Relationship Type="http://schemas.openxmlformats.org/officeDocument/2006/relationships/notesSlide" Target="/ppt/notesSlides/notesSlide1.xml" Id="R83db2ad3a4864a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ca4d2553ab149f4" /><Relationship Type="http://schemas.openxmlformats.org/officeDocument/2006/relationships/notesSlide" Target="/ppt/notesSlides/notesSlide2.xml" Id="Re8c021410ba445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35de64771a144f4" /><Relationship Type="http://schemas.openxmlformats.org/officeDocument/2006/relationships/notesSlide" Target="/ppt/notesSlides/notesSlide3.xml" Id="R57b3d136ac734c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9e02dbf7b274a3e" /><Relationship Type="http://schemas.openxmlformats.org/officeDocument/2006/relationships/notesSlide" Target="/ppt/notesSlides/notesSlide4.xml" Id="Rc7f218baa3a540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b912c823157493a" /><Relationship Type="http://schemas.openxmlformats.org/officeDocument/2006/relationships/notesSlide" Target="/ppt/notesSlides/notesSlide5.xml" Id="R5729d3443dde41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b2ed51a72994a69" /><Relationship Type="http://schemas.openxmlformats.org/officeDocument/2006/relationships/notesSlide" Target="/ppt/notesSlides/notesSlide6.xml" Id="R8e09279ac5e84a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d53b2770df844a8" /><Relationship Type="http://schemas.openxmlformats.org/officeDocument/2006/relationships/image" Target="/ppt/media/image.png" Id="R2a6e25ee27094209" /><Relationship Type="http://schemas.openxmlformats.org/officeDocument/2006/relationships/notesSlide" Target="/ppt/notesSlides/notesSlide7.xml" Id="R91aee0c79f114c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7c0376e09eb4bf1" /><Relationship Type="http://schemas.openxmlformats.org/officeDocument/2006/relationships/image" Target="/ppt/media/image2.png" Id="R24405b625cc7414f" /><Relationship Type="http://schemas.openxmlformats.org/officeDocument/2006/relationships/notesSlide" Target="/ppt/notesSlides/notesSlide8.xml" Id="R064bdd2e541d46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1f8ab76aa194525" /><Relationship Type="http://schemas.openxmlformats.org/officeDocument/2006/relationships/image" Target="/ppt/media/image3.png" Id="R646d74fce439437d" /><Relationship Type="http://schemas.openxmlformats.org/officeDocument/2006/relationships/notesSlide" Target="/ppt/notesSlides/notesSlide9.xml" Id="Rea2cda1d878e4b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e817f379e85422c" /><Relationship Type="http://schemas.openxmlformats.org/officeDocument/2006/relationships/notesSlide" Target="/ppt/notesSlides/notesSlide10.xml" Id="R79b95f0926ca47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a0b570db8f645d9" /><Relationship Type="http://schemas.openxmlformats.org/officeDocument/2006/relationships/notesSlide" Target="/ppt/notesSlides/notesSlide11.xml" Id="R041efb7dc80244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b2b6559c4c14b15" /><Relationship Type="http://schemas.openxmlformats.org/officeDocument/2006/relationships/notesSlide" Target="/ppt/notesSlides/notesSlide12.xml" Id="Rc32e5f6c852a4c4a" /></Relationships>
</file>

<file path=ppt/slides/slide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295AE1-97FD-4C0B-A8E7-09F50BE49AEC}"/>
              </a:ext>
            </a:extLst>
          </p:cNvPr>
          <p:cNvSpPr>
            <a:spLocks xmlns:a="http://schemas.openxmlformats.org/drawingml/2006/main" noGrp="1"/>
          </p:cNvSpPr>
          <p:nvPr/>
        </p:nvSpPr>
        <p:spPr>
          <a:xfrm xmlns:a="http://schemas.openxmlformats.org/drawingml/2006/main">
            <a:off x="552450" y="36195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21722"/>
                </a:solidFill>
                <a:latin typeface="Avenir Next"/>
                <a:ea typeface="Avenir Next"/>
                <a:cs typeface="Avenir Next"/>
              </a:defRPr>
            </a:pPr>
            <a:r>
              <a:rPr sz="1200" b="1">
                <a:solidFill>
                  <a:srgbClr val="121722"/>
                </a:solidFill>
                <a:latin typeface="Avenir Next"/>
                <a:ea typeface="Avenir Next"/>
                <a:cs typeface="Avenir Next"/>
              </a:rPr>
              <a:t>AEGIS</a:t>
            </a:r>
          </a:p>
        </p:txBody>
      </p:sp>
      <p:sp>
        <p:nvSpPr>
          <p:cNvPr id="2" name="">
            <a:extLst xmlns:a="http://schemas.openxmlformats.org/drawingml/2006/main">
              <a:ext uri="{FF2B5EF4-FFF2-40B4-BE49-F238E27FC236}">
                <a16:creationId xmlns:a16="http://schemas.microsoft.com/office/drawing/2014/main" id="{8513044D-AE33-4C6D-B112-381C61B1D298}"/>
              </a:ext>
            </a:extLst>
          </p:cNvPr>
          <p:cNvSpPr>
            <a:spLocks xmlns:a="http://schemas.openxmlformats.org/drawingml/2006/main" noGrp="1"/>
          </p:cNvSpPr>
          <p:nvPr/>
        </p:nvSpPr>
        <p:spPr>
          <a:xfrm xmlns:a="http://schemas.openxmlformats.org/drawingml/2006/main">
            <a:off x="552450" y="704850"/>
            <a:ext cx="590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CLIMATE EMERGENCY RESPONSE NETWORK</a:t>
            </a:r>
          </a:p>
        </p:txBody>
      </p:sp>
      <p:sp>
        <p:nvSpPr>
          <p:cNvPr id="3" name="">
            <a:extLst xmlns:a="http://schemas.openxmlformats.org/drawingml/2006/main">
              <a:ext uri="{FF2B5EF4-FFF2-40B4-BE49-F238E27FC236}">
                <a16:creationId xmlns:a16="http://schemas.microsoft.com/office/drawing/2014/main" id="{D1FA0725-BF33-41B7-A5A1-D13E1482BD5E}"/>
              </a:ext>
            </a:extLst>
          </p:cNvPr>
          <p:cNvSpPr>
            <a:spLocks xmlns:a="http://schemas.openxmlformats.org/drawingml/2006/main" noGrp="1"/>
          </p:cNvSpPr>
          <p:nvPr/>
        </p:nvSpPr>
        <p:spPr>
          <a:xfrm xmlns:a="http://schemas.openxmlformats.org/drawingml/2006/main">
            <a:off x="552450" y="11239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FLOOD RESPONSE, RECONNECTED</a:t>
            </a:r>
          </a:p>
        </p:txBody>
      </p:sp>
      <p:sp>
        <p:nvSpPr>
          <p:cNvPr id="4" name="">
            <a:extLst xmlns:a="http://schemas.openxmlformats.org/drawingml/2006/main">
              <a:ext uri="{FF2B5EF4-FFF2-40B4-BE49-F238E27FC236}">
                <a16:creationId xmlns:a16="http://schemas.microsoft.com/office/drawing/2014/main" id="{95BD8B6B-24BD-499A-90DF-546CEC857FBA}"/>
              </a:ext>
            </a:extLst>
          </p:cNvPr>
          <p:cNvSpPr>
            <a:spLocks xmlns:a="http://schemas.openxmlformats.org/drawingml/2006/main" noGrp="1"/>
          </p:cNvSpPr>
          <p:nvPr/>
        </p:nvSpPr>
        <p:spPr>
          <a:xfrm xmlns:a="http://schemas.openxmlformats.org/drawingml/2006/main">
            <a:off x="552450" y="1466850"/>
            <a:ext cx="7239000" cy="1676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90535"/>
          </a:bodyPr>
          <a:lstStyle xmlns:a="http://schemas.openxmlformats.org/drawingml/2006/main"/>
          <a:p xmlns:a="http://schemas.openxmlformats.org/drawingml/2006/main">
            <a:pPr algn="l">
              <a:defRPr sz="4050" b="1">
                <a:solidFill>
                  <a:srgbClr val="121722"/>
                </a:solidFill>
                <a:latin typeface="Avenir Next"/>
                <a:ea typeface="Avenir Next"/>
                <a:cs typeface="Avenir Next"/>
              </a:defRPr>
            </a:pPr>
            <a:r>
              <a:rPr sz="4050" b="1">
                <a:solidFill>
                  <a:srgbClr val="121722"/>
                </a:solidFill>
                <a:latin typeface="Avenir Next"/>
                <a:ea typeface="Avenir Next"/>
                <a:cs typeface="Avenir Next"/>
              </a:rPr>
              <a:t>In a flood, information arrives fast. Help still arrives fragmented.</a:t>
            </a:r>
          </a:p>
        </p:txBody>
      </p:sp>
      <p:sp>
        <p:nvSpPr>
          <p:cNvPr id="5" name="">
            <a:extLst xmlns:a="http://schemas.openxmlformats.org/drawingml/2006/main">
              <a:ext uri="{FF2B5EF4-FFF2-40B4-BE49-F238E27FC236}">
                <a16:creationId xmlns:a16="http://schemas.microsoft.com/office/drawing/2014/main" id="{5E8D7193-188F-42BC-8D3C-715268F04EB5}"/>
              </a:ext>
            </a:extLst>
          </p:cNvPr>
          <p:cNvSpPr>
            <a:spLocks xmlns:a="http://schemas.openxmlformats.org/drawingml/2006/main" noGrp="1"/>
          </p:cNvSpPr>
          <p:nvPr/>
        </p:nvSpPr>
        <p:spPr>
          <a:xfrm xmlns:a="http://schemas.openxmlformats.org/drawingml/2006/main">
            <a:off x="552450" y="3238500"/>
            <a:ext cx="6381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526075"/>
                </a:solidFill>
                <a:latin typeface="Avenir Next"/>
                <a:ea typeface="Avenir Next"/>
                <a:cs typeface="Avenir Next"/>
              </a:defRPr>
            </a:pPr>
            <a:r>
              <a:rPr sz="1650" b="0">
                <a:solidFill>
                  <a:srgbClr val="526075"/>
                </a:solidFill>
                <a:latin typeface="Avenir Next"/>
                <a:ea typeface="Avenir Next"/>
                <a:cs typeface="Avenir Next"/>
              </a:rPr>
              <a:t>Residents, volunteers, shelters, weather, and field reports rarely meet in one trusted operating picture.</a:t>
            </a:r>
          </a:p>
        </p:txBody>
      </p:sp>
      <p:sp>
        <p:nvSpPr>
          <p:cNvPr id="6" name="">
            <a:extLst xmlns:a="http://schemas.openxmlformats.org/drawingml/2006/main">
              <a:ext uri="{FF2B5EF4-FFF2-40B4-BE49-F238E27FC236}">
                <a16:creationId xmlns:a16="http://schemas.microsoft.com/office/drawing/2014/main" id="{BBE3927C-3BB8-431F-9E13-F021D09CDB56}"/>
              </a:ext>
            </a:extLst>
          </p:cNvPr>
          <p:cNvSpPr>
            <a:spLocks xmlns:a="http://schemas.openxmlformats.org/drawingml/2006/main" noGrp="1"/>
          </p:cNvSpPr>
          <p:nvPr/>
        </p:nvSpPr>
        <p:spPr>
          <a:xfrm xmlns:a="http://schemas.openxmlformats.org/drawingml/2006/main">
            <a:off x="7715250" y="990600"/>
            <a:ext cx="9525" cy="4286250"/>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7" name="">
            <a:extLst xmlns:a="http://schemas.openxmlformats.org/drawingml/2006/main">
              <a:ext uri="{FF2B5EF4-FFF2-40B4-BE49-F238E27FC236}">
                <a16:creationId xmlns:a16="http://schemas.microsoft.com/office/drawing/2014/main" id="{2E7F1B4F-9345-4A15-8B60-FAB8FF94FEB0}"/>
              </a:ext>
            </a:extLst>
          </p:cNvPr>
          <p:cNvSpPr>
            <a:spLocks xmlns:a="http://schemas.openxmlformats.org/drawingml/2006/main" noGrp="1"/>
          </p:cNvSpPr>
          <p:nvPr/>
        </p:nvSpPr>
        <p:spPr>
          <a:xfrm xmlns:a="http://schemas.openxmlformats.org/drawingml/2006/main">
            <a:off x="8096250" y="11239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RESIDENT</a:t>
            </a:r>
          </a:p>
        </p:txBody>
      </p:sp>
      <p:sp>
        <p:nvSpPr>
          <p:cNvPr id="8" name="">
            <a:extLst xmlns:a="http://schemas.openxmlformats.org/drawingml/2006/main">
              <a:ext uri="{FF2B5EF4-FFF2-40B4-BE49-F238E27FC236}">
                <a16:creationId xmlns:a16="http://schemas.microsoft.com/office/drawing/2014/main" id="{8B2043F8-FE0A-485B-947C-0CAE20EF60A6}"/>
              </a:ext>
            </a:extLst>
          </p:cNvPr>
          <p:cNvSpPr>
            <a:spLocks xmlns:a="http://schemas.openxmlformats.org/drawingml/2006/main" noGrp="1"/>
          </p:cNvSpPr>
          <p:nvPr/>
        </p:nvSpPr>
        <p:spPr>
          <a:xfrm xmlns:a="http://schemas.openxmlformats.org/drawingml/2006/main">
            <a:off x="8096250" y="1352550"/>
            <a:ext cx="314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Wheelchair user upstairs</a:t>
            </a:r>
          </a:p>
        </p:txBody>
      </p:sp>
      <p:sp>
        <p:nvSpPr>
          <p:cNvPr id="9" name="">
            <a:extLst xmlns:a="http://schemas.openxmlformats.org/drawingml/2006/main">
              <a:ext uri="{FF2B5EF4-FFF2-40B4-BE49-F238E27FC236}">
                <a16:creationId xmlns:a16="http://schemas.microsoft.com/office/drawing/2014/main" id="{1730C95B-AA24-448E-A0FE-4A43BEC99246}"/>
              </a:ext>
            </a:extLst>
          </p:cNvPr>
          <p:cNvSpPr>
            <a:spLocks xmlns:a="http://schemas.openxmlformats.org/drawingml/2006/main" noGrp="1"/>
          </p:cNvSpPr>
          <p:nvPr/>
        </p:nvSpPr>
        <p:spPr>
          <a:xfrm xmlns:a="http://schemas.openxmlformats.org/drawingml/2006/main">
            <a:off x="8096250" y="1905000"/>
            <a:ext cx="314325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0" name="">
            <a:extLst xmlns:a="http://schemas.openxmlformats.org/drawingml/2006/main">
              <a:ext uri="{FF2B5EF4-FFF2-40B4-BE49-F238E27FC236}">
                <a16:creationId xmlns:a16="http://schemas.microsoft.com/office/drawing/2014/main" id="{EC197A75-DBED-4465-A6EC-122C877A835C}"/>
              </a:ext>
            </a:extLst>
          </p:cNvPr>
          <p:cNvSpPr>
            <a:spLocks xmlns:a="http://schemas.openxmlformats.org/drawingml/2006/main" noGrp="1"/>
          </p:cNvSpPr>
          <p:nvPr/>
        </p:nvSpPr>
        <p:spPr>
          <a:xfrm xmlns:a="http://schemas.openxmlformats.org/drawingml/2006/main">
            <a:off x="8096250" y="20955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ROAD</a:t>
            </a:r>
          </a:p>
        </p:txBody>
      </p:sp>
      <p:sp>
        <p:nvSpPr>
          <p:cNvPr id="11" name="">
            <a:extLst xmlns:a="http://schemas.openxmlformats.org/drawingml/2006/main">
              <a:ext uri="{FF2B5EF4-FFF2-40B4-BE49-F238E27FC236}">
                <a16:creationId xmlns:a16="http://schemas.microsoft.com/office/drawing/2014/main" id="{D1376E81-9720-4663-8A12-968A267C12E0}"/>
              </a:ext>
            </a:extLst>
          </p:cNvPr>
          <p:cNvSpPr>
            <a:spLocks xmlns:a="http://schemas.openxmlformats.org/drawingml/2006/main" noGrp="1"/>
          </p:cNvSpPr>
          <p:nvPr/>
        </p:nvSpPr>
        <p:spPr>
          <a:xfrm xmlns:a="http://schemas.openxmlformats.org/drawingml/2006/main">
            <a:off x="8096250" y="2324100"/>
            <a:ext cx="314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South access is blocked</a:t>
            </a:r>
          </a:p>
        </p:txBody>
      </p:sp>
      <p:sp>
        <p:nvSpPr>
          <p:cNvPr id="12" name="">
            <a:extLst xmlns:a="http://schemas.openxmlformats.org/drawingml/2006/main">
              <a:ext uri="{FF2B5EF4-FFF2-40B4-BE49-F238E27FC236}">
                <a16:creationId xmlns:a16="http://schemas.microsoft.com/office/drawing/2014/main" id="{F99F9025-AB17-4D65-A53F-EFEA61FD2411}"/>
              </a:ext>
            </a:extLst>
          </p:cNvPr>
          <p:cNvSpPr>
            <a:spLocks xmlns:a="http://schemas.openxmlformats.org/drawingml/2006/main" noGrp="1"/>
          </p:cNvSpPr>
          <p:nvPr/>
        </p:nvSpPr>
        <p:spPr>
          <a:xfrm xmlns:a="http://schemas.openxmlformats.org/drawingml/2006/main">
            <a:off x="8096250" y="2876550"/>
            <a:ext cx="314325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3" name="">
            <a:extLst xmlns:a="http://schemas.openxmlformats.org/drawingml/2006/main">
              <a:ext uri="{FF2B5EF4-FFF2-40B4-BE49-F238E27FC236}">
                <a16:creationId xmlns:a16="http://schemas.microsoft.com/office/drawing/2014/main" id="{82547531-A27B-43D3-A12B-DD054657671E}"/>
              </a:ext>
            </a:extLst>
          </p:cNvPr>
          <p:cNvSpPr>
            <a:spLocks xmlns:a="http://schemas.openxmlformats.org/drawingml/2006/main" noGrp="1"/>
          </p:cNvSpPr>
          <p:nvPr/>
        </p:nvSpPr>
        <p:spPr>
          <a:xfrm xmlns:a="http://schemas.openxmlformats.org/drawingml/2006/main">
            <a:off x="8096250" y="3067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SHELTER</a:t>
            </a:r>
          </a:p>
        </p:txBody>
      </p:sp>
      <p:sp>
        <p:nvSpPr>
          <p:cNvPr id="14" name="">
            <a:extLst xmlns:a="http://schemas.openxmlformats.org/drawingml/2006/main">
              <a:ext uri="{FF2B5EF4-FFF2-40B4-BE49-F238E27FC236}">
                <a16:creationId xmlns:a16="http://schemas.microsoft.com/office/drawing/2014/main" id="{4DB5996B-AEF3-4934-A330-D6DD058BDF2C}"/>
              </a:ext>
            </a:extLst>
          </p:cNvPr>
          <p:cNvSpPr>
            <a:spLocks xmlns:a="http://schemas.openxmlformats.org/drawingml/2006/main" noGrp="1"/>
          </p:cNvSpPr>
          <p:nvPr/>
        </p:nvSpPr>
        <p:spPr>
          <a:xfrm xmlns:a="http://schemas.openxmlformats.org/drawingml/2006/main">
            <a:off x="8096250" y="3295650"/>
            <a:ext cx="314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18 spaces available</a:t>
            </a:r>
          </a:p>
        </p:txBody>
      </p:sp>
      <p:sp>
        <p:nvSpPr>
          <p:cNvPr id="15" name="">
            <a:extLst xmlns:a="http://schemas.openxmlformats.org/drawingml/2006/main">
              <a:ext uri="{FF2B5EF4-FFF2-40B4-BE49-F238E27FC236}">
                <a16:creationId xmlns:a16="http://schemas.microsoft.com/office/drawing/2014/main" id="{A9F4802F-A2E6-473A-8DB0-D04E9FC61A19}"/>
              </a:ext>
            </a:extLst>
          </p:cNvPr>
          <p:cNvSpPr>
            <a:spLocks xmlns:a="http://schemas.openxmlformats.org/drawingml/2006/main" noGrp="1"/>
          </p:cNvSpPr>
          <p:nvPr/>
        </p:nvSpPr>
        <p:spPr>
          <a:xfrm xmlns:a="http://schemas.openxmlformats.org/drawingml/2006/main">
            <a:off x="8096250" y="3848100"/>
            <a:ext cx="314325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6" name="">
            <a:extLst xmlns:a="http://schemas.openxmlformats.org/drawingml/2006/main">
              <a:ext uri="{FF2B5EF4-FFF2-40B4-BE49-F238E27FC236}">
                <a16:creationId xmlns:a16="http://schemas.microsoft.com/office/drawing/2014/main" id="{AF174379-4A79-4CE7-8E44-EFD71F85B61D}"/>
              </a:ext>
            </a:extLst>
          </p:cNvPr>
          <p:cNvSpPr>
            <a:spLocks xmlns:a="http://schemas.openxmlformats.org/drawingml/2006/main" noGrp="1"/>
          </p:cNvSpPr>
          <p:nvPr/>
        </p:nvSpPr>
        <p:spPr>
          <a:xfrm xmlns:a="http://schemas.openxmlformats.org/drawingml/2006/main">
            <a:off x="8096250" y="40386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VOLUNTEER</a:t>
            </a:r>
          </a:p>
        </p:txBody>
      </p:sp>
      <p:sp>
        <p:nvSpPr>
          <p:cNvPr id="17" name="">
            <a:extLst xmlns:a="http://schemas.openxmlformats.org/drawingml/2006/main">
              <a:ext uri="{FF2B5EF4-FFF2-40B4-BE49-F238E27FC236}">
                <a16:creationId xmlns:a16="http://schemas.microsoft.com/office/drawing/2014/main" id="{8021B51F-D9E9-449F-BA1F-644C6BC2882C}"/>
              </a:ext>
            </a:extLst>
          </p:cNvPr>
          <p:cNvSpPr>
            <a:spLocks xmlns:a="http://schemas.openxmlformats.org/drawingml/2006/main" noGrp="1"/>
          </p:cNvSpPr>
          <p:nvPr/>
        </p:nvSpPr>
        <p:spPr>
          <a:xfrm xmlns:a="http://schemas.openxmlformats.org/drawingml/2006/main">
            <a:off x="8096250" y="4267200"/>
            <a:ext cx="3143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Transport within 8 km</a:t>
            </a:r>
          </a:p>
        </p:txBody>
      </p:sp>
      <p:sp>
        <p:nvSpPr>
          <p:cNvPr id="18" name="">
            <a:extLst xmlns:a="http://schemas.openxmlformats.org/drawingml/2006/main">
              <a:ext uri="{FF2B5EF4-FFF2-40B4-BE49-F238E27FC236}">
                <a16:creationId xmlns:a16="http://schemas.microsoft.com/office/drawing/2014/main" id="{AF68264D-958E-4BE2-9490-CA6A485E8482}"/>
              </a:ext>
            </a:extLst>
          </p:cNvPr>
          <p:cNvSpPr>
            <a:spLocks xmlns:a="http://schemas.openxmlformats.org/drawingml/2006/main" noGrp="1"/>
          </p:cNvSpPr>
          <p:nvPr/>
        </p:nvSpPr>
        <p:spPr>
          <a:xfrm xmlns:a="http://schemas.openxmlformats.org/drawingml/2006/main">
            <a:off x="8096250" y="5105400"/>
            <a:ext cx="3143250" cy="723900"/>
          </a:xfrm>
          <a:prstGeom xmlns:a="http://schemas.openxmlformats.org/drawingml/2006/main" prst="roundRect">
            <a:avLst>
              <a:gd name="adj" fmla="val 13158"/>
            </a:avLst>
          </a:prstGeom>
          <a:solidFill xmlns:a="http://schemas.openxmlformats.org/drawingml/2006/main">
            <a:srgbClr val="20242B"/>
          </a:solidFill>
          <a:ln xmlns:a="http://schemas.openxmlformats.org/drawingml/2006/main" w="0">
            <a:solidFill>
              <a:srgbClr val="000000">
                <a:alpha val="0"/>
              </a:srgbClr>
            </a:solidFill>
          </a:ln>
        </p:spPr>
        <p:txBody>
          <a:bodyPr xmlns:a="http://schemas.openxmlformats.org/drawingml/2006/main" lIns="171450" tIns="171450" rIns="171450" bIns="171450" anchor="t">
            <a:normAutofit fontScale="92634"/>
          </a:bodyPr>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The dangerous gap is between receiving a signal and coordinating verified action.</a:t>
            </a:r>
          </a:p>
        </p:txBody>
      </p:sp>
      <p:sp>
        <p:nvSpPr>
          <p:cNvPr id="19" name="">
            <a:extLst xmlns:a="http://schemas.openxmlformats.org/drawingml/2006/main">
              <a:ext uri="{FF2B5EF4-FFF2-40B4-BE49-F238E27FC236}">
                <a16:creationId xmlns:a16="http://schemas.microsoft.com/office/drawing/2014/main" id="{80072E92-A7ED-44FF-A611-7A7C9AC95FA4}"/>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20" name="">
            <a:extLst xmlns:a="http://schemas.openxmlformats.org/drawingml/2006/main">
              <a:ext uri="{FF2B5EF4-FFF2-40B4-BE49-F238E27FC236}">
                <a16:creationId xmlns:a16="http://schemas.microsoft.com/office/drawing/2014/main" id="{B866CB5C-5F98-41C0-8AEF-770FA0AB315F}"/>
              </a:ext>
            </a:extLst>
          </p:cNvPr>
          <p:cNvSpPr>
            <a:spLocks xmlns:a="http://schemas.openxmlformats.org/drawingml/2006/main" noGrp="1"/>
          </p:cNvSpPr>
          <p:nvPr/>
        </p:nvSpPr>
        <p:spPr>
          <a:xfrm xmlns:a="http://schemas.openxmlformats.org/drawingml/2006/main">
            <a:off x="552450" y="6457950"/>
            <a:ext cx="5715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526075"/>
                </a:solidFill>
                <a:latin typeface="Avenir Next"/>
                <a:ea typeface="Avenir Next"/>
                <a:cs typeface="Avenir Next"/>
              </a:defRPr>
            </a:pPr>
            <a:r>
              <a:rPr sz="750" b="0">
                <a:solidFill>
                  <a:srgbClr val="526075"/>
                </a:solidFill>
                <a:latin typeface="Avenir Next"/>
                <a:ea typeface="Avenir Next"/>
                <a:cs typeface="Avenir Next"/>
              </a:rPr>
              <a:t>Team 04  |  Climate Emergency Response Assistant</a:t>
            </a:r>
          </a:p>
        </p:txBody>
      </p:sp>
      <p:sp>
        <p:nvSpPr>
          <p:cNvPr id="21" name="">
            <a:extLst xmlns:a="http://schemas.openxmlformats.org/drawingml/2006/main">
              <a:ext uri="{FF2B5EF4-FFF2-40B4-BE49-F238E27FC236}">
                <a16:creationId xmlns:a16="http://schemas.microsoft.com/office/drawing/2014/main" id="{8F62DC96-BCE1-42F1-A155-14CA7900B7ED}"/>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01</a:t>
            </a:r>
          </a:p>
        </p:txBody>
      </p:sp>
    </p:spTree>
    <p:extLst>
      <p:ext uri="{BB962C8B-B14F-4D97-AF65-F5344CB8AC3E}">
        <p14:creationId xmlns:p14="http://schemas.microsoft.com/office/powerpoint/2010/main" val="752210969"/>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EC8D2C-6AB9-43FF-9632-3B6583B26900}"/>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THE FAILURE</a:t>
            </a:r>
          </a:p>
        </p:txBody>
      </p:sp>
      <p:sp>
        <p:nvSpPr>
          <p:cNvPr id="2" name="">
            <a:extLst xmlns:a="http://schemas.openxmlformats.org/drawingml/2006/main">
              <a:ext uri="{FF2B5EF4-FFF2-40B4-BE49-F238E27FC236}">
                <a16:creationId xmlns:a16="http://schemas.microsoft.com/office/drawing/2014/main" id="{E8E9CE5C-68ED-434B-9C5E-326A9904A3B6}"/>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121722"/>
                </a:solidFill>
                <a:latin typeface="Avenir Next"/>
                <a:ea typeface="Avenir Next"/>
                <a:cs typeface="Avenir Next"/>
              </a:defRPr>
            </a:pPr>
            <a:r>
              <a:rPr sz="3450" b="1">
                <a:solidFill>
                  <a:srgbClr val="121722"/>
                </a:solidFill>
                <a:latin typeface="Avenir Next"/>
                <a:ea typeface="Avenir Next"/>
                <a:cs typeface="Avenir Next"/>
              </a:rPr>
              <a:t>Response breaks where disconnected channels collide.</a:t>
            </a:r>
          </a:p>
        </p:txBody>
      </p:sp>
      <p:sp>
        <p:nvSpPr>
          <p:cNvPr id="3" name="">
            <a:extLst xmlns:a="http://schemas.openxmlformats.org/drawingml/2006/main">
              <a:ext uri="{FF2B5EF4-FFF2-40B4-BE49-F238E27FC236}">
                <a16:creationId xmlns:a16="http://schemas.microsoft.com/office/drawing/2014/main" id="{7776529E-179A-491E-A0DA-6E85E35CF2DE}"/>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2E392250-C1CE-4BA9-81D3-4A01C3B8EC65}"/>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72455AD0-48A7-4ADA-98E6-62EFBEA2175B}"/>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02</a:t>
            </a:r>
          </a:p>
        </p:txBody>
      </p:sp>
      <p:sp>
        <p:nvSpPr>
          <p:cNvPr id="6" name="">
            <a:extLst xmlns:a="http://schemas.openxmlformats.org/drawingml/2006/main">
              <a:ext uri="{FF2B5EF4-FFF2-40B4-BE49-F238E27FC236}">
                <a16:creationId xmlns:a16="http://schemas.microsoft.com/office/drawing/2014/main" id="{0CEB64E8-0876-4178-ACA6-02C5E46A7F5D}"/>
              </a:ext>
            </a:extLst>
          </p:cNvPr>
          <p:cNvSpPr>
            <a:spLocks xmlns:a="http://schemas.openxmlformats.org/drawingml/2006/main" noGrp="1"/>
          </p:cNvSpPr>
          <p:nvPr/>
        </p:nvSpPr>
        <p:spPr>
          <a:xfrm xmlns:a="http://schemas.openxmlformats.org/drawingml/2006/main">
            <a:off x="552450" y="2038350"/>
            <a:ext cx="31432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52400" tIns="152400" rIns="152400" bIns="152400" anchor="t">
            <a:normAutofit fontScale="100000"/>
          </a:bodyPr>
          <a:lstStyle xmlns:a="http://schemas.openxmlformats.org/drawingml/2006/main"/>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RAW REPORTS</a:t>
            </a:r>
          </a:p>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Duplicate, conflicting, incomplete</a:t>
            </a:r>
          </a:p>
        </p:txBody>
      </p:sp>
      <p:sp>
        <p:nvSpPr>
          <p:cNvPr id="7" name="">
            <a:extLst xmlns:a="http://schemas.openxmlformats.org/drawingml/2006/main">
              <a:ext uri="{FF2B5EF4-FFF2-40B4-BE49-F238E27FC236}">
                <a16:creationId xmlns:a16="http://schemas.microsoft.com/office/drawing/2014/main" id="{39C11C11-014D-4ED7-B3CC-A7E146B518E0}"/>
              </a:ext>
            </a:extLst>
          </p:cNvPr>
          <p:cNvSpPr>
            <a:spLocks xmlns:a="http://schemas.openxmlformats.org/drawingml/2006/main" noGrp="1"/>
          </p:cNvSpPr>
          <p:nvPr/>
        </p:nvSpPr>
        <p:spPr>
          <a:xfrm xmlns:a="http://schemas.openxmlformats.org/drawingml/2006/main">
            <a:off x="3886200" y="2247900"/>
            <a:ext cx="514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C65D3B"/>
                </a:solidFill>
                <a:latin typeface="Avenir Next"/>
                <a:ea typeface="Avenir Next"/>
                <a:cs typeface="Avenir Next"/>
              </a:defRPr>
            </a:pPr>
            <a:r>
              <a:rPr sz="2100" b="1">
                <a:solidFill>
                  <a:srgbClr val="C65D3B"/>
                </a:solidFill>
                <a:latin typeface="Avenir Next"/>
                <a:ea typeface="Avenir Next"/>
                <a:cs typeface="Avenir Next"/>
              </a:rPr>
              <a:t>→</a:t>
            </a:r>
          </a:p>
        </p:txBody>
      </p:sp>
      <p:sp>
        <p:nvSpPr>
          <p:cNvPr id="8" name="">
            <a:extLst xmlns:a="http://schemas.openxmlformats.org/drawingml/2006/main">
              <a:ext uri="{FF2B5EF4-FFF2-40B4-BE49-F238E27FC236}">
                <a16:creationId xmlns:a16="http://schemas.microsoft.com/office/drawing/2014/main" id="{2B513AAC-B55A-4E1C-B2F3-35717B2B9303}"/>
              </a:ext>
            </a:extLst>
          </p:cNvPr>
          <p:cNvSpPr>
            <a:spLocks xmlns:a="http://schemas.openxmlformats.org/drawingml/2006/main" noGrp="1"/>
          </p:cNvSpPr>
          <p:nvPr/>
        </p:nvSpPr>
        <p:spPr>
          <a:xfrm xmlns:a="http://schemas.openxmlformats.org/drawingml/2006/main">
            <a:off x="552450" y="3143250"/>
            <a:ext cx="31432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52400" tIns="152400" rIns="152400" bIns="152400" anchor="t">
            <a:normAutofit fontScale="100000"/>
          </a:bodyPr>
          <a:lstStyle xmlns:a="http://schemas.openxmlformats.org/drawingml/2006/main"/>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COMMUNITY AID</a:t>
            </a:r>
          </a:p>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Offers without verification</a:t>
            </a:r>
          </a:p>
        </p:txBody>
      </p:sp>
      <p:sp>
        <p:nvSpPr>
          <p:cNvPr id="9" name="">
            <a:extLst xmlns:a="http://schemas.openxmlformats.org/drawingml/2006/main">
              <a:ext uri="{FF2B5EF4-FFF2-40B4-BE49-F238E27FC236}">
                <a16:creationId xmlns:a16="http://schemas.microsoft.com/office/drawing/2014/main" id="{C3342288-B715-4397-A93E-09959CC69989}"/>
              </a:ext>
            </a:extLst>
          </p:cNvPr>
          <p:cNvSpPr>
            <a:spLocks xmlns:a="http://schemas.openxmlformats.org/drawingml/2006/main" noGrp="1"/>
          </p:cNvSpPr>
          <p:nvPr/>
        </p:nvSpPr>
        <p:spPr>
          <a:xfrm xmlns:a="http://schemas.openxmlformats.org/drawingml/2006/main">
            <a:off x="3886200" y="3352800"/>
            <a:ext cx="514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C65D3B"/>
                </a:solidFill>
                <a:latin typeface="Avenir Next"/>
                <a:ea typeface="Avenir Next"/>
                <a:cs typeface="Avenir Next"/>
              </a:defRPr>
            </a:pPr>
            <a:r>
              <a:rPr sz="2100" b="1">
                <a:solidFill>
                  <a:srgbClr val="C65D3B"/>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54C917FA-6103-4E2C-95BB-C3F8D0FC681E}"/>
              </a:ext>
            </a:extLst>
          </p:cNvPr>
          <p:cNvSpPr>
            <a:spLocks xmlns:a="http://schemas.openxmlformats.org/drawingml/2006/main" noGrp="1"/>
          </p:cNvSpPr>
          <p:nvPr/>
        </p:nvSpPr>
        <p:spPr>
          <a:xfrm xmlns:a="http://schemas.openxmlformats.org/drawingml/2006/main">
            <a:off x="552450" y="4248150"/>
            <a:ext cx="3143250" cy="781050"/>
          </a:xfrm>
          <a:prstGeom xmlns:a="http://schemas.openxmlformats.org/drawingml/2006/main" prst="roundRect">
            <a:avLst>
              <a:gd name="adj" fmla="val 1219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52400" tIns="152400" rIns="152400" bIns="152400" anchor="t">
            <a:normAutofit fontScale="100000"/>
          </a:bodyPr>
          <a:lstStyle xmlns:a="http://schemas.openxmlformats.org/drawingml/2006/main"/>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LIVE CONDITIONS</a:t>
            </a:r>
          </a:p>
          <a:p xmlns:a="http://schemas.openxmlformats.org/drawingml/2006/main">
            <a:pPr algn="l">
              <a:defRPr sz="1275" b="1">
                <a:solidFill>
                  <a:srgbClr val="121722"/>
                </a:solidFill>
                <a:latin typeface="Avenir Next"/>
                <a:ea typeface="Avenir Next"/>
                <a:cs typeface="Avenir Next"/>
              </a:defRPr>
            </a:pPr>
            <a:r>
              <a:rPr sz="1275" b="1">
                <a:solidFill>
                  <a:srgbClr val="121722"/>
                </a:solidFill>
                <a:latin typeface="Avenir Next"/>
                <a:ea typeface="Avenir Next"/>
                <a:cs typeface="Avenir Next"/>
              </a:rPr>
              <a:t>Weather and access change quickly</a:t>
            </a:r>
          </a:p>
        </p:txBody>
      </p:sp>
      <p:sp>
        <p:nvSpPr>
          <p:cNvPr id="11" name="">
            <a:extLst xmlns:a="http://schemas.openxmlformats.org/drawingml/2006/main">
              <a:ext uri="{FF2B5EF4-FFF2-40B4-BE49-F238E27FC236}">
                <a16:creationId xmlns:a16="http://schemas.microsoft.com/office/drawing/2014/main" id="{E7616F8F-F6ED-4C48-BF59-F80B29BF92BA}"/>
              </a:ext>
            </a:extLst>
          </p:cNvPr>
          <p:cNvSpPr>
            <a:spLocks xmlns:a="http://schemas.openxmlformats.org/drawingml/2006/main" noGrp="1"/>
          </p:cNvSpPr>
          <p:nvPr/>
        </p:nvSpPr>
        <p:spPr>
          <a:xfrm xmlns:a="http://schemas.openxmlformats.org/drawingml/2006/main">
            <a:off x="3886200" y="4457700"/>
            <a:ext cx="514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C65D3B"/>
                </a:solidFill>
                <a:latin typeface="Avenir Next"/>
                <a:ea typeface="Avenir Next"/>
                <a:cs typeface="Avenir Next"/>
              </a:defRPr>
            </a:pPr>
            <a:r>
              <a:rPr sz="2100" b="1">
                <a:solidFill>
                  <a:srgbClr val="C65D3B"/>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042FB31C-6343-45E0-BDD8-23D3710DA7DC}"/>
              </a:ext>
            </a:extLst>
          </p:cNvPr>
          <p:cNvSpPr>
            <a:spLocks xmlns:a="http://schemas.openxmlformats.org/drawingml/2006/main" noGrp="1"/>
          </p:cNvSpPr>
          <p:nvPr/>
        </p:nvSpPr>
        <p:spPr>
          <a:xfrm xmlns:a="http://schemas.openxmlformats.org/drawingml/2006/main">
            <a:off x="4552950" y="2324100"/>
            <a:ext cx="2476500" cy="2571750"/>
          </a:xfrm>
          <a:prstGeom xmlns:a="http://schemas.openxmlformats.org/drawingml/2006/main" prst="roundRect">
            <a:avLst>
              <a:gd name="adj" fmla="val 3846"/>
            </a:avLst>
          </a:prstGeom>
          <a:solidFill xmlns:a="http://schemas.openxmlformats.org/drawingml/2006/main">
            <a:srgbClr val="20242B"/>
          </a:solidFill>
          <a:ln xmlns:a="http://schemas.openxmlformats.org/drawingml/2006/main" w="0">
            <a:solidFill>
              <a:srgbClr val="000000">
                <a:alpha val="0"/>
              </a:srgbClr>
            </a:solidFill>
          </a:ln>
        </p:spPr>
        <p:txBody>
          <a:bodyPr xmlns:a="http://schemas.openxmlformats.org/drawingml/2006/main" lIns="209550" tIns="209550" rIns="209550" bIns="209550" anchor="ctr">
            <a:normAutofit fontScale="100000"/>
          </a:bodyPr>
          <a:lstStyle xmlns:a="http://schemas.openxmlformats.org/drawingml/2006/main"/>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MANUAL</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BOTTLENECK</a:t>
            </a:r>
          </a:p>
          <a:p xmlns:a="http://schemas.openxmlformats.org/drawingml/2006/main">
            <a:r>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One coordinator</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Multiple spreadsheets</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No shared status</a:t>
            </a:r>
          </a:p>
        </p:txBody>
      </p:sp>
      <p:sp>
        <p:nvSpPr>
          <p:cNvPr id="13" name="">
            <a:extLst xmlns:a="http://schemas.openxmlformats.org/drawingml/2006/main">
              <a:ext uri="{FF2B5EF4-FFF2-40B4-BE49-F238E27FC236}">
                <a16:creationId xmlns:a16="http://schemas.microsoft.com/office/drawing/2014/main" id="{79A6774C-2BA8-4051-935F-DCFA95E26796}"/>
              </a:ext>
            </a:extLst>
          </p:cNvPr>
          <p:cNvSpPr>
            <a:spLocks xmlns:a="http://schemas.openxmlformats.org/drawingml/2006/main" noGrp="1"/>
          </p:cNvSpPr>
          <p:nvPr/>
        </p:nvSpPr>
        <p:spPr>
          <a:xfrm xmlns:a="http://schemas.openxmlformats.org/drawingml/2006/main">
            <a:off x="7219950" y="3314700"/>
            <a:ext cx="514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C65D3B"/>
                </a:solidFill>
                <a:latin typeface="Avenir Next"/>
                <a:ea typeface="Avenir Next"/>
                <a:cs typeface="Avenir Next"/>
              </a:defRPr>
            </a:pPr>
            <a:r>
              <a:rPr sz="2100" b="1">
                <a:solidFill>
                  <a:srgbClr val="C65D3B"/>
                </a:solidFill>
                <a:latin typeface="Avenir Next"/>
                <a:ea typeface="Avenir Next"/>
                <a:cs typeface="Avenir Next"/>
              </a:rPr>
              <a:t>→</a:t>
            </a:r>
          </a:p>
        </p:txBody>
      </p:sp>
      <p:sp>
        <p:nvSpPr>
          <p:cNvPr id="14" name="">
            <a:extLst xmlns:a="http://schemas.openxmlformats.org/drawingml/2006/main">
              <a:ext uri="{FF2B5EF4-FFF2-40B4-BE49-F238E27FC236}">
                <a16:creationId xmlns:a16="http://schemas.microsoft.com/office/drawing/2014/main" id="{3BD689B4-B523-48CB-8A79-82736C1952EE}"/>
              </a:ext>
            </a:extLst>
          </p:cNvPr>
          <p:cNvSpPr>
            <a:spLocks xmlns:a="http://schemas.openxmlformats.org/drawingml/2006/main" noGrp="1"/>
          </p:cNvSpPr>
          <p:nvPr/>
        </p:nvSpPr>
        <p:spPr>
          <a:xfrm xmlns:a="http://schemas.openxmlformats.org/drawingml/2006/main">
            <a:off x="7905750" y="203835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PRIORITY</a:t>
            </a:r>
          </a:p>
        </p:txBody>
      </p:sp>
      <p:sp>
        <p:nvSpPr>
          <p:cNvPr id="15" name="">
            <a:extLst xmlns:a="http://schemas.openxmlformats.org/drawingml/2006/main">
              <a:ext uri="{FF2B5EF4-FFF2-40B4-BE49-F238E27FC236}">
                <a16:creationId xmlns:a16="http://schemas.microsoft.com/office/drawing/2014/main" id="{541E9487-9AD2-4BCB-930F-30BACFE99313}"/>
              </a:ext>
            </a:extLst>
          </p:cNvPr>
          <p:cNvSpPr>
            <a:spLocks xmlns:a="http://schemas.openxmlformats.org/drawingml/2006/main" noGrp="1"/>
          </p:cNvSpPr>
          <p:nvPr/>
        </p:nvSpPr>
        <p:spPr>
          <a:xfrm xmlns:a="http://schemas.openxmlformats.org/drawingml/2006/main">
            <a:off x="7905750" y="2276475"/>
            <a:ext cx="3238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Life-safety needs stay buried</a:t>
            </a:r>
          </a:p>
        </p:txBody>
      </p:sp>
      <p:sp>
        <p:nvSpPr>
          <p:cNvPr id="16" name="">
            <a:extLst xmlns:a="http://schemas.openxmlformats.org/drawingml/2006/main">
              <a:ext uri="{FF2B5EF4-FFF2-40B4-BE49-F238E27FC236}">
                <a16:creationId xmlns:a16="http://schemas.microsoft.com/office/drawing/2014/main" id="{82AD4A07-6AF8-4E8B-AC89-1012973A3EE1}"/>
              </a:ext>
            </a:extLst>
          </p:cNvPr>
          <p:cNvSpPr>
            <a:spLocks xmlns:a="http://schemas.openxmlformats.org/drawingml/2006/main" noGrp="1"/>
          </p:cNvSpPr>
          <p:nvPr/>
        </p:nvSpPr>
        <p:spPr>
          <a:xfrm xmlns:a="http://schemas.openxmlformats.org/drawingml/2006/main">
            <a:off x="7905750" y="2876550"/>
            <a:ext cx="323850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7" name="">
            <a:extLst xmlns:a="http://schemas.openxmlformats.org/drawingml/2006/main">
              <a:ext uri="{FF2B5EF4-FFF2-40B4-BE49-F238E27FC236}">
                <a16:creationId xmlns:a16="http://schemas.microsoft.com/office/drawing/2014/main" id="{0FB422C3-8EB6-4195-8E39-496621632CE2}"/>
              </a:ext>
            </a:extLst>
          </p:cNvPr>
          <p:cNvSpPr>
            <a:spLocks xmlns:a="http://schemas.openxmlformats.org/drawingml/2006/main" noGrp="1"/>
          </p:cNvSpPr>
          <p:nvPr/>
        </p:nvSpPr>
        <p:spPr>
          <a:xfrm xmlns:a="http://schemas.openxmlformats.org/drawingml/2006/main">
            <a:off x="7905750" y="314325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CAPACITY</a:t>
            </a:r>
          </a:p>
        </p:txBody>
      </p:sp>
      <p:sp>
        <p:nvSpPr>
          <p:cNvPr id="18" name="">
            <a:extLst xmlns:a="http://schemas.openxmlformats.org/drawingml/2006/main">
              <a:ext uri="{FF2B5EF4-FFF2-40B4-BE49-F238E27FC236}">
                <a16:creationId xmlns:a16="http://schemas.microsoft.com/office/drawing/2014/main" id="{6C47D065-ED10-44E6-A726-C57DC32CC0D1}"/>
              </a:ext>
            </a:extLst>
          </p:cNvPr>
          <p:cNvSpPr>
            <a:spLocks xmlns:a="http://schemas.openxmlformats.org/drawingml/2006/main" noGrp="1"/>
          </p:cNvSpPr>
          <p:nvPr/>
        </p:nvSpPr>
        <p:spPr>
          <a:xfrm xmlns:a="http://schemas.openxmlformats.org/drawingml/2006/main">
            <a:off x="7905750" y="3381375"/>
            <a:ext cx="3238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Useful resources sit idle</a:t>
            </a:r>
          </a:p>
        </p:txBody>
      </p:sp>
      <p:sp>
        <p:nvSpPr>
          <p:cNvPr id="19" name="">
            <a:extLst xmlns:a="http://schemas.openxmlformats.org/drawingml/2006/main">
              <a:ext uri="{FF2B5EF4-FFF2-40B4-BE49-F238E27FC236}">
                <a16:creationId xmlns:a16="http://schemas.microsoft.com/office/drawing/2014/main" id="{6BD0936A-BF5F-40E6-8327-3E0FF7D0DB20}"/>
              </a:ext>
            </a:extLst>
          </p:cNvPr>
          <p:cNvSpPr>
            <a:spLocks xmlns:a="http://schemas.openxmlformats.org/drawingml/2006/main" noGrp="1"/>
          </p:cNvSpPr>
          <p:nvPr/>
        </p:nvSpPr>
        <p:spPr>
          <a:xfrm xmlns:a="http://schemas.openxmlformats.org/drawingml/2006/main">
            <a:off x="7905750" y="3981450"/>
            <a:ext cx="323850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20" name="">
            <a:extLst xmlns:a="http://schemas.openxmlformats.org/drawingml/2006/main">
              <a:ext uri="{FF2B5EF4-FFF2-40B4-BE49-F238E27FC236}">
                <a16:creationId xmlns:a16="http://schemas.microsoft.com/office/drawing/2014/main" id="{914D855B-7F5E-4A03-9700-851275B9872D}"/>
              </a:ext>
            </a:extLst>
          </p:cNvPr>
          <p:cNvSpPr>
            <a:spLocks xmlns:a="http://schemas.openxmlformats.org/drawingml/2006/main" noGrp="1"/>
          </p:cNvSpPr>
          <p:nvPr/>
        </p:nvSpPr>
        <p:spPr>
          <a:xfrm xmlns:a="http://schemas.openxmlformats.org/drawingml/2006/main">
            <a:off x="7905750" y="424815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C65D3B"/>
                </a:solidFill>
                <a:latin typeface="Avenir Next"/>
                <a:ea typeface="Avenir Next"/>
                <a:cs typeface="Avenir Next"/>
              </a:defRPr>
            </a:pPr>
            <a:r>
              <a:rPr sz="825" b="1">
                <a:solidFill>
                  <a:srgbClr val="C65D3B"/>
                </a:solidFill>
                <a:latin typeface="Avenir Next"/>
                <a:ea typeface="Avenir Next"/>
                <a:cs typeface="Avenir Next"/>
              </a:rPr>
              <a:t>TRUST</a:t>
            </a:r>
          </a:p>
        </p:txBody>
      </p:sp>
      <p:sp>
        <p:nvSpPr>
          <p:cNvPr id="21" name="">
            <a:extLst xmlns:a="http://schemas.openxmlformats.org/drawingml/2006/main">
              <a:ext uri="{FF2B5EF4-FFF2-40B4-BE49-F238E27FC236}">
                <a16:creationId xmlns:a16="http://schemas.microsoft.com/office/drawing/2014/main" id="{375CBA9C-D5DC-4E0E-860F-1E12E1AE8D9A}"/>
              </a:ext>
            </a:extLst>
          </p:cNvPr>
          <p:cNvSpPr>
            <a:spLocks xmlns:a="http://schemas.openxmlformats.org/drawingml/2006/main" noGrp="1"/>
          </p:cNvSpPr>
          <p:nvPr/>
        </p:nvSpPr>
        <p:spPr>
          <a:xfrm xmlns:a="http://schemas.openxmlformats.org/drawingml/2006/main">
            <a:off x="7905750" y="4486275"/>
            <a:ext cx="3238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Automation can amplify bad data</a:t>
            </a:r>
          </a:p>
        </p:txBody>
      </p:sp>
      <p:sp>
        <p:nvSpPr>
          <p:cNvPr id="22" name="">
            <a:extLst xmlns:a="http://schemas.openxmlformats.org/drawingml/2006/main">
              <a:ext uri="{FF2B5EF4-FFF2-40B4-BE49-F238E27FC236}">
                <a16:creationId xmlns:a16="http://schemas.microsoft.com/office/drawing/2014/main" id="{C3FF312B-2756-4996-8EB5-FCC3168AE437}"/>
              </a:ext>
            </a:extLst>
          </p:cNvPr>
          <p:cNvSpPr>
            <a:spLocks xmlns:a="http://schemas.openxmlformats.org/drawingml/2006/main" noGrp="1"/>
          </p:cNvSpPr>
          <p:nvPr/>
        </p:nvSpPr>
        <p:spPr>
          <a:xfrm xmlns:a="http://schemas.openxmlformats.org/drawingml/2006/main">
            <a:off x="7905750" y="5086350"/>
            <a:ext cx="323850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23" name="">
            <a:extLst xmlns:a="http://schemas.openxmlformats.org/drawingml/2006/main">
              <a:ext uri="{FF2B5EF4-FFF2-40B4-BE49-F238E27FC236}">
                <a16:creationId xmlns:a16="http://schemas.microsoft.com/office/drawing/2014/main" id="{8B5FAF3A-E88B-40F4-B57C-C0C89375C65A}"/>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Problem framing from implemented AEGIS workflows</a:t>
            </a:r>
          </a:p>
        </p:txBody>
      </p:sp>
    </p:spTree>
    <p:extLst>
      <p:ext uri="{BB962C8B-B14F-4D97-AF65-F5344CB8AC3E}">
        <p14:creationId xmlns:p14="http://schemas.microsoft.com/office/powerpoint/2010/main" val="1222979656"/>
      </p:ext>
    </p:extLst>
  </p:cSld>
</p:sld>
</file>

<file path=ppt/slides/slide3.xml><?xml version="1.0" encoding="utf-8"?>
<p:sld xmlns:p="http://schemas.openxmlformats.org/presentationml/2006/main">
  <p:cSld>
    <p:bg>
      <p:bgPr>
        <a:solidFill xmlns:a="http://schemas.openxmlformats.org/drawingml/2006/main">
          <a:srgbClr val="2024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DF54EE-B720-4C90-B532-DA3F178D8069}"/>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9B26F"/>
                </a:solidFill>
                <a:latin typeface="Avenir Next"/>
                <a:ea typeface="Avenir Next"/>
                <a:cs typeface="Avenir Next"/>
              </a:defRPr>
            </a:pPr>
            <a:r>
              <a:rPr sz="975" b="1">
                <a:solidFill>
                  <a:srgbClr val="D9B26F"/>
                </a:solidFill>
                <a:latin typeface="Avenir Next"/>
                <a:ea typeface="Avenir Next"/>
                <a:cs typeface="Avenir Next"/>
              </a:rPr>
              <a:t>THE SOLUTION</a:t>
            </a:r>
          </a:p>
        </p:txBody>
      </p:sp>
      <p:sp>
        <p:nvSpPr>
          <p:cNvPr id="2" name="">
            <a:extLst xmlns:a="http://schemas.openxmlformats.org/drawingml/2006/main">
              <a:ext uri="{FF2B5EF4-FFF2-40B4-BE49-F238E27FC236}">
                <a16:creationId xmlns:a16="http://schemas.microsoft.com/office/drawing/2014/main" id="{C88B7D98-DD8B-4F01-A95D-480A1753577E}"/>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FFFFFF"/>
                </a:solidFill>
                <a:latin typeface="Avenir Next"/>
                <a:ea typeface="Avenir Next"/>
                <a:cs typeface="Avenir Next"/>
              </a:defRPr>
            </a:pPr>
            <a:r>
              <a:rPr sz="3450" b="1">
                <a:solidFill>
                  <a:srgbClr val="FFFFFF"/>
                </a:solidFill>
                <a:latin typeface="Avenir Next"/>
                <a:ea typeface="Avenir Next"/>
                <a:cs typeface="Avenir Next"/>
              </a:rPr>
              <a:t>AEGIS creates one verified operating loop.</a:t>
            </a:r>
          </a:p>
        </p:txBody>
      </p:sp>
      <p:sp>
        <p:nvSpPr>
          <p:cNvPr id="3" name="">
            <a:extLst xmlns:a="http://schemas.openxmlformats.org/drawingml/2006/main">
              <a:ext uri="{FF2B5EF4-FFF2-40B4-BE49-F238E27FC236}">
                <a16:creationId xmlns:a16="http://schemas.microsoft.com/office/drawing/2014/main" id="{0BEFE64E-940E-45FC-B29A-BAB7F5D10095}"/>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4B5058"/>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9ADFADE3-E281-4DA2-B607-C223349F392F}"/>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1868BBA5-EA7D-4CE1-84F6-1709290AF4CF}"/>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03</a:t>
            </a:r>
          </a:p>
        </p:txBody>
      </p:sp>
      <p:sp>
        <p:nvSpPr>
          <p:cNvPr id="6" name="">
            <a:extLst xmlns:a="http://schemas.openxmlformats.org/drawingml/2006/main">
              <a:ext uri="{FF2B5EF4-FFF2-40B4-BE49-F238E27FC236}">
                <a16:creationId xmlns:a16="http://schemas.microsoft.com/office/drawing/2014/main" id="{74E8E963-5E29-411F-B7C7-98873CF50E5F}"/>
              </a:ext>
            </a:extLst>
          </p:cNvPr>
          <p:cNvSpPr>
            <a:spLocks xmlns:a="http://schemas.openxmlformats.org/drawingml/2006/main" noGrp="1"/>
          </p:cNvSpPr>
          <p:nvPr/>
        </p:nvSpPr>
        <p:spPr>
          <a:xfrm xmlns:a="http://schemas.openxmlformats.org/drawingml/2006/main">
            <a:off x="552450" y="22669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20242B"/>
                </a:solidFill>
                <a:latin typeface="Avenir Next"/>
                <a:ea typeface="Avenir Next"/>
                <a:cs typeface="Avenir Next"/>
              </a:defRPr>
            </a:pPr>
            <a:r>
              <a:rPr sz="1425" b="1">
                <a:solidFill>
                  <a:srgbClr val="20242B"/>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27BB38F2-3CFD-4488-8C4D-9222115FE535}"/>
              </a:ext>
            </a:extLst>
          </p:cNvPr>
          <p:cNvSpPr>
            <a:spLocks xmlns:a="http://schemas.openxmlformats.org/drawingml/2006/main" noGrp="1"/>
          </p:cNvSpPr>
          <p:nvPr/>
        </p:nvSpPr>
        <p:spPr>
          <a:xfrm xmlns:a="http://schemas.openxmlformats.org/drawingml/2006/main">
            <a:off x="552450" y="281940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ASK</a:t>
            </a:r>
          </a:p>
        </p:txBody>
      </p:sp>
      <p:sp>
        <p:nvSpPr>
          <p:cNvPr id="8" name="">
            <a:extLst xmlns:a="http://schemas.openxmlformats.org/drawingml/2006/main">
              <a:ext uri="{FF2B5EF4-FFF2-40B4-BE49-F238E27FC236}">
                <a16:creationId xmlns:a16="http://schemas.microsoft.com/office/drawing/2014/main" id="{915D8B38-8262-4210-8F57-C7A5FC141CBE}"/>
              </a:ext>
            </a:extLst>
          </p:cNvPr>
          <p:cNvSpPr>
            <a:spLocks xmlns:a="http://schemas.openxmlformats.org/drawingml/2006/main" noGrp="1"/>
          </p:cNvSpPr>
          <p:nvPr/>
        </p:nvSpPr>
        <p:spPr>
          <a:xfrm xmlns:a="http://schemas.openxmlformats.org/drawingml/2006/main">
            <a:off x="552450" y="3133725"/>
            <a:ext cx="1866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7CBD1"/>
                </a:solidFill>
                <a:latin typeface="Avenir Next"/>
                <a:ea typeface="Avenir Next"/>
                <a:cs typeface="Avenir Next"/>
              </a:defRPr>
            </a:pPr>
            <a:r>
              <a:rPr sz="1275" b="0">
                <a:solidFill>
                  <a:srgbClr val="C7CBD1"/>
                </a:solidFill>
                <a:latin typeface="Avenir Next"/>
                <a:ea typeface="Avenir Next"/>
                <a:cs typeface="Avenir Next"/>
              </a:rPr>
              <a:t>Residents describe need and location</a:t>
            </a:r>
          </a:p>
        </p:txBody>
      </p:sp>
      <p:sp>
        <p:nvSpPr>
          <p:cNvPr id="9" name="">
            <a:extLst xmlns:a="http://schemas.openxmlformats.org/drawingml/2006/main">
              <a:ext uri="{FF2B5EF4-FFF2-40B4-BE49-F238E27FC236}">
                <a16:creationId xmlns:a16="http://schemas.microsoft.com/office/drawing/2014/main" id="{2B0CC43E-5485-4BC7-AACA-8B016F094205}"/>
              </a:ext>
            </a:extLst>
          </p:cNvPr>
          <p:cNvSpPr>
            <a:spLocks xmlns:a="http://schemas.openxmlformats.org/drawingml/2006/main" noGrp="1"/>
          </p:cNvSpPr>
          <p:nvPr/>
        </p:nvSpPr>
        <p:spPr>
          <a:xfrm xmlns:a="http://schemas.openxmlformats.org/drawingml/2006/main">
            <a:off x="2305050" y="23050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777D86"/>
                </a:solidFill>
                <a:latin typeface="Avenir Next"/>
                <a:ea typeface="Avenir Next"/>
                <a:cs typeface="Avenir Next"/>
              </a:defRPr>
            </a:pPr>
            <a:r>
              <a:rPr sz="1950" b="1">
                <a:solidFill>
                  <a:srgbClr val="777D86"/>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41FCE0AF-0342-4272-8324-095C3003CAF6}"/>
              </a:ext>
            </a:extLst>
          </p:cNvPr>
          <p:cNvSpPr>
            <a:spLocks xmlns:a="http://schemas.openxmlformats.org/drawingml/2006/main" noGrp="1"/>
          </p:cNvSpPr>
          <p:nvPr/>
        </p:nvSpPr>
        <p:spPr>
          <a:xfrm xmlns:a="http://schemas.openxmlformats.org/drawingml/2006/main">
            <a:off x="2762250" y="22669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20242B"/>
                </a:solidFill>
                <a:latin typeface="Avenir Next"/>
                <a:ea typeface="Avenir Next"/>
                <a:cs typeface="Avenir Next"/>
              </a:defRPr>
            </a:pPr>
            <a:r>
              <a:rPr sz="1425" b="1">
                <a:solidFill>
                  <a:srgbClr val="20242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2CDF88F4-8347-43D0-8234-EA9D6BF38FDB}"/>
              </a:ext>
            </a:extLst>
          </p:cNvPr>
          <p:cNvSpPr>
            <a:spLocks xmlns:a="http://schemas.openxmlformats.org/drawingml/2006/main" noGrp="1"/>
          </p:cNvSpPr>
          <p:nvPr/>
        </p:nvSpPr>
        <p:spPr>
          <a:xfrm xmlns:a="http://schemas.openxmlformats.org/drawingml/2006/main">
            <a:off x="2762250" y="281940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VERIFY</a:t>
            </a:r>
          </a:p>
        </p:txBody>
      </p:sp>
      <p:sp>
        <p:nvSpPr>
          <p:cNvPr id="12" name="">
            <a:extLst xmlns:a="http://schemas.openxmlformats.org/drawingml/2006/main">
              <a:ext uri="{FF2B5EF4-FFF2-40B4-BE49-F238E27FC236}">
                <a16:creationId xmlns:a16="http://schemas.microsoft.com/office/drawing/2014/main" id="{11CC214C-2A2E-49B3-BB1E-7A5E04C4066E}"/>
              </a:ext>
            </a:extLst>
          </p:cNvPr>
          <p:cNvSpPr>
            <a:spLocks xmlns:a="http://schemas.openxmlformats.org/drawingml/2006/main" noGrp="1"/>
          </p:cNvSpPr>
          <p:nvPr/>
        </p:nvSpPr>
        <p:spPr>
          <a:xfrm xmlns:a="http://schemas.openxmlformats.org/drawingml/2006/main">
            <a:off x="2762250" y="3133725"/>
            <a:ext cx="1866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7CBD1"/>
                </a:solidFill>
                <a:latin typeface="Avenir Next"/>
                <a:ea typeface="Avenir Next"/>
                <a:cs typeface="Avenir Next"/>
              </a:defRPr>
            </a:pPr>
            <a:r>
              <a:rPr sz="1275" b="0">
                <a:solidFill>
                  <a:srgbClr val="C7CBD1"/>
                </a:solidFill>
                <a:latin typeface="Avenir Next"/>
                <a:ea typeface="Avenir Next"/>
                <a:cs typeface="Avenir Next"/>
              </a:rPr>
              <a:t>Coordinators separate evidence from claims</a:t>
            </a:r>
          </a:p>
        </p:txBody>
      </p:sp>
      <p:sp>
        <p:nvSpPr>
          <p:cNvPr id="13" name="">
            <a:extLst xmlns:a="http://schemas.openxmlformats.org/drawingml/2006/main">
              <a:ext uri="{FF2B5EF4-FFF2-40B4-BE49-F238E27FC236}">
                <a16:creationId xmlns:a16="http://schemas.microsoft.com/office/drawing/2014/main" id="{812CE2A1-CE64-40DB-8C71-1C62B936EA7F}"/>
              </a:ext>
            </a:extLst>
          </p:cNvPr>
          <p:cNvSpPr>
            <a:spLocks xmlns:a="http://schemas.openxmlformats.org/drawingml/2006/main" noGrp="1"/>
          </p:cNvSpPr>
          <p:nvPr/>
        </p:nvSpPr>
        <p:spPr>
          <a:xfrm xmlns:a="http://schemas.openxmlformats.org/drawingml/2006/main">
            <a:off x="4514850" y="23050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777D86"/>
                </a:solidFill>
                <a:latin typeface="Avenir Next"/>
                <a:ea typeface="Avenir Next"/>
                <a:cs typeface="Avenir Next"/>
              </a:defRPr>
            </a:pPr>
            <a:r>
              <a:rPr sz="1950" b="1">
                <a:solidFill>
                  <a:srgbClr val="777D86"/>
                </a:solidFill>
                <a:latin typeface="Avenir Next"/>
                <a:ea typeface="Avenir Next"/>
                <a:cs typeface="Avenir Next"/>
              </a:rPr>
              <a:t>→</a:t>
            </a:r>
          </a:p>
        </p:txBody>
      </p:sp>
      <p:sp>
        <p:nvSpPr>
          <p:cNvPr id="14" name="">
            <a:extLst xmlns:a="http://schemas.openxmlformats.org/drawingml/2006/main">
              <a:ext uri="{FF2B5EF4-FFF2-40B4-BE49-F238E27FC236}">
                <a16:creationId xmlns:a16="http://schemas.microsoft.com/office/drawing/2014/main" id="{6F9BF02B-1A38-4105-8D86-D5C54172E517}"/>
              </a:ext>
            </a:extLst>
          </p:cNvPr>
          <p:cNvSpPr>
            <a:spLocks xmlns:a="http://schemas.openxmlformats.org/drawingml/2006/main" noGrp="1"/>
          </p:cNvSpPr>
          <p:nvPr/>
        </p:nvSpPr>
        <p:spPr>
          <a:xfrm xmlns:a="http://schemas.openxmlformats.org/drawingml/2006/main">
            <a:off x="4972050" y="22669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20242B"/>
                </a:solidFill>
                <a:latin typeface="Avenir Next"/>
                <a:ea typeface="Avenir Next"/>
                <a:cs typeface="Avenir Next"/>
              </a:defRPr>
            </a:pPr>
            <a:r>
              <a:rPr sz="1425" b="1">
                <a:solidFill>
                  <a:srgbClr val="20242B"/>
                </a:solidFill>
                <a:latin typeface="Avenir Next"/>
                <a:ea typeface="Avenir Next"/>
                <a:cs typeface="Avenir Next"/>
              </a:rPr>
              <a:t>3</a:t>
            </a:r>
          </a:p>
        </p:txBody>
      </p:sp>
      <p:sp>
        <p:nvSpPr>
          <p:cNvPr id="15" name="">
            <a:extLst xmlns:a="http://schemas.openxmlformats.org/drawingml/2006/main">
              <a:ext uri="{FF2B5EF4-FFF2-40B4-BE49-F238E27FC236}">
                <a16:creationId xmlns:a16="http://schemas.microsoft.com/office/drawing/2014/main" id="{B24E10D5-4238-4A80-93B5-117EE5E9EE85}"/>
              </a:ext>
            </a:extLst>
          </p:cNvPr>
          <p:cNvSpPr>
            <a:spLocks xmlns:a="http://schemas.openxmlformats.org/drawingml/2006/main" noGrp="1"/>
          </p:cNvSpPr>
          <p:nvPr/>
        </p:nvSpPr>
        <p:spPr>
          <a:xfrm xmlns:a="http://schemas.openxmlformats.org/drawingml/2006/main">
            <a:off x="4972050" y="281940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MATCH</a:t>
            </a:r>
          </a:p>
        </p:txBody>
      </p:sp>
      <p:sp>
        <p:nvSpPr>
          <p:cNvPr id="16" name="">
            <a:extLst xmlns:a="http://schemas.openxmlformats.org/drawingml/2006/main">
              <a:ext uri="{FF2B5EF4-FFF2-40B4-BE49-F238E27FC236}">
                <a16:creationId xmlns:a16="http://schemas.microsoft.com/office/drawing/2014/main" id="{9E75F3A1-B33F-4D59-8712-CC72B7A24CE6}"/>
              </a:ext>
            </a:extLst>
          </p:cNvPr>
          <p:cNvSpPr>
            <a:spLocks xmlns:a="http://schemas.openxmlformats.org/drawingml/2006/main" noGrp="1"/>
          </p:cNvSpPr>
          <p:nvPr/>
        </p:nvSpPr>
        <p:spPr>
          <a:xfrm xmlns:a="http://schemas.openxmlformats.org/drawingml/2006/main">
            <a:off x="4972050" y="3133725"/>
            <a:ext cx="1866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7CBD1"/>
                </a:solidFill>
                <a:latin typeface="Avenir Next"/>
                <a:ea typeface="Avenir Next"/>
                <a:cs typeface="Avenir Next"/>
              </a:defRPr>
            </a:pPr>
            <a:r>
              <a:rPr sz="1275" b="0">
                <a:solidFill>
                  <a:srgbClr val="C7CBD1"/>
                </a:solidFill>
                <a:latin typeface="Avenir Next"/>
                <a:ea typeface="Avenir Next"/>
                <a:cs typeface="Avenir Next"/>
              </a:rPr>
              <a:t>Verified volunteers and shelters fit the need</a:t>
            </a:r>
          </a:p>
        </p:txBody>
      </p:sp>
      <p:sp>
        <p:nvSpPr>
          <p:cNvPr id="17" name="">
            <a:extLst xmlns:a="http://schemas.openxmlformats.org/drawingml/2006/main">
              <a:ext uri="{FF2B5EF4-FFF2-40B4-BE49-F238E27FC236}">
                <a16:creationId xmlns:a16="http://schemas.microsoft.com/office/drawing/2014/main" id="{4A679568-88B3-42DD-AE32-DF0EA95A3ED7}"/>
              </a:ext>
            </a:extLst>
          </p:cNvPr>
          <p:cNvSpPr>
            <a:spLocks xmlns:a="http://schemas.openxmlformats.org/drawingml/2006/main" noGrp="1"/>
          </p:cNvSpPr>
          <p:nvPr/>
        </p:nvSpPr>
        <p:spPr>
          <a:xfrm xmlns:a="http://schemas.openxmlformats.org/drawingml/2006/main">
            <a:off x="6724650" y="23050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777D86"/>
                </a:solidFill>
                <a:latin typeface="Avenir Next"/>
                <a:ea typeface="Avenir Next"/>
                <a:cs typeface="Avenir Next"/>
              </a:defRPr>
            </a:pPr>
            <a:r>
              <a:rPr sz="1950" b="1">
                <a:solidFill>
                  <a:srgbClr val="777D86"/>
                </a:solidFill>
                <a:latin typeface="Avenir Next"/>
                <a:ea typeface="Avenir Next"/>
                <a:cs typeface="Avenir Next"/>
              </a:rPr>
              <a:t>→</a:t>
            </a:r>
          </a:p>
        </p:txBody>
      </p:sp>
      <p:sp>
        <p:nvSpPr>
          <p:cNvPr id="18" name="">
            <a:extLst xmlns:a="http://schemas.openxmlformats.org/drawingml/2006/main">
              <a:ext uri="{FF2B5EF4-FFF2-40B4-BE49-F238E27FC236}">
                <a16:creationId xmlns:a16="http://schemas.microsoft.com/office/drawing/2014/main" id="{22FFFA9B-B6E3-4075-9DE5-BED6CE5E7515}"/>
              </a:ext>
            </a:extLst>
          </p:cNvPr>
          <p:cNvSpPr>
            <a:spLocks xmlns:a="http://schemas.openxmlformats.org/drawingml/2006/main" noGrp="1"/>
          </p:cNvSpPr>
          <p:nvPr/>
        </p:nvSpPr>
        <p:spPr>
          <a:xfrm xmlns:a="http://schemas.openxmlformats.org/drawingml/2006/main">
            <a:off x="7181850" y="22669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20242B"/>
                </a:solidFill>
                <a:latin typeface="Avenir Next"/>
                <a:ea typeface="Avenir Next"/>
                <a:cs typeface="Avenir Next"/>
              </a:defRPr>
            </a:pPr>
            <a:r>
              <a:rPr sz="1425" b="1">
                <a:solidFill>
                  <a:srgbClr val="20242B"/>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BFCB6C47-F3E7-4077-B92E-89D0CED35E7E}"/>
              </a:ext>
            </a:extLst>
          </p:cNvPr>
          <p:cNvSpPr>
            <a:spLocks xmlns:a="http://schemas.openxmlformats.org/drawingml/2006/main" noGrp="1"/>
          </p:cNvSpPr>
          <p:nvPr/>
        </p:nvSpPr>
        <p:spPr>
          <a:xfrm xmlns:a="http://schemas.openxmlformats.org/drawingml/2006/main">
            <a:off x="7181850" y="281940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ROUTE</a:t>
            </a:r>
          </a:p>
        </p:txBody>
      </p:sp>
      <p:sp>
        <p:nvSpPr>
          <p:cNvPr id="20" name="">
            <a:extLst xmlns:a="http://schemas.openxmlformats.org/drawingml/2006/main">
              <a:ext uri="{FF2B5EF4-FFF2-40B4-BE49-F238E27FC236}">
                <a16:creationId xmlns:a16="http://schemas.microsoft.com/office/drawing/2014/main" id="{B6F3E5E9-D2A8-48A8-8AB4-ED47A98CC70F}"/>
              </a:ext>
            </a:extLst>
          </p:cNvPr>
          <p:cNvSpPr>
            <a:spLocks xmlns:a="http://schemas.openxmlformats.org/drawingml/2006/main" noGrp="1"/>
          </p:cNvSpPr>
          <p:nvPr/>
        </p:nvSpPr>
        <p:spPr>
          <a:xfrm xmlns:a="http://schemas.openxmlformats.org/drawingml/2006/main">
            <a:off x="7181850" y="3133725"/>
            <a:ext cx="1866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7CBD1"/>
                </a:solidFill>
                <a:latin typeface="Avenir Next"/>
                <a:ea typeface="Avenir Next"/>
                <a:cs typeface="Avenir Next"/>
              </a:defRPr>
            </a:pPr>
            <a:r>
              <a:rPr sz="1275" b="0">
                <a:solidFill>
                  <a:srgbClr val="C7CBD1"/>
                </a:solidFill>
                <a:latin typeface="Avenir Next"/>
                <a:ea typeface="Avenir Next"/>
                <a:cs typeface="Avenir Next"/>
              </a:rPr>
              <a:t>Live staging and route options support action</a:t>
            </a:r>
          </a:p>
        </p:txBody>
      </p:sp>
      <p:sp>
        <p:nvSpPr>
          <p:cNvPr id="21" name="">
            <a:extLst xmlns:a="http://schemas.openxmlformats.org/drawingml/2006/main">
              <a:ext uri="{FF2B5EF4-FFF2-40B4-BE49-F238E27FC236}">
                <a16:creationId xmlns:a16="http://schemas.microsoft.com/office/drawing/2014/main" id="{5D8AB9DB-DE46-4735-96DE-B81BD8B00130}"/>
              </a:ext>
            </a:extLst>
          </p:cNvPr>
          <p:cNvSpPr>
            <a:spLocks xmlns:a="http://schemas.openxmlformats.org/drawingml/2006/main" noGrp="1"/>
          </p:cNvSpPr>
          <p:nvPr/>
        </p:nvSpPr>
        <p:spPr>
          <a:xfrm xmlns:a="http://schemas.openxmlformats.org/drawingml/2006/main">
            <a:off x="8934450" y="2305050"/>
            <a:ext cx="400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777D86"/>
                </a:solidFill>
                <a:latin typeface="Avenir Next"/>
                <a:ea typeface="Avenir Next"/>
                <a:cs typeface="Avenir Next"/>
              </a:defRPr>
            </a:pPr>
            <a:r>
              <a:rPr sz="1950" b="1">
                <a:solidFill>
                  <a:srgbClr val="777D86"/>
                </a:solidFill>
                <a:latin typeface="Avenir Next"/>
                <a:ea typeface="Avenir Next"/>
                <a:cs typeface="Avenir Next"/>
              </a:rPr>
              <a:t>→</a:t>
            </a:r>
          </a:p>
        </p:txBody>
      </p:sp>
      <p:sp>
        <p:nvSpPr>
          <p:cNvPr id="22" name="">
            <a:extLst xmlns:a="http://schemas.openxmlformats.org/drawingml/2006/main">
              <a:ext uri="{FF2B5EF4-FFF2-40B4-BE49-F238E27FC236}">
                <a16:creationId xmlns:a16="http://schemas.microsoft.com/office/drawing/2014/main" id="{85CE42DF-4BD2-495F-9FA1-A3795E7A9845}"/>
              </a:ext>
            </a:extLst>
          </p:cNvPr>
          <p:cNvSpPr>
            <a:spLocks xmlns:a="http://schemas.openxmlformats.org/drawingml/2006/main" noGrp="1"/>
          </p:cNvSpPr>
          <p:nvPr/>
        </p:nvSpPr>
        <p:spPr>
          <a:xfrm xmlns:a="http://schemas.openxmlformats.org/drawingml/2006/main">
            <a:off x="9391650" y="2266950"/>
            <a:ext cx="400050" cy="400050"/>
          </a:xfrm>
          <a:prstGeom xmlns:a="http://schemas.openxmlformats.org/drawingml/2006/main" prst="ellipse">
            <a:avLst/>
          </a:prstGeom>
          <a:solidFill xmlns:a="http://schemas.openxmlformats.org/drawingml/2006/main">
            <a:srgbClr val="D9B26F"/>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20242B"/>
                </a:solidFill>
                <a:latin typeface="Avenir Next"/>
                <a:ea typeface="Avenir Next"/>
                <a:cs typeface="Avenir Next"/>
              </a:defRPr>
            </a:pPr>
            <a:r>
              <a:rPr sz="1425" b="1">
                <a:solidFill>
                  <a:srgbClr val="20242B"/>
                </a:solidFill>
                <a:latin typeface="Avenir Next"/>
                <a:ea typeface="Avenir Next"/>
                <a:cs typeface="Avenir Next"/>
              </a:rPr>
              <a:t>5</a:t>
            </a:r>
          </a:p>
        </p:txBody>
      </p:sp>
      <p:sp>
        <p:nvSpPr>
          <p:cNvPr id="23" name="">
            <a:extLst xmlns:a="http://schemas.openxmlformats.org/drawingml/2006/main">
              <a:ext uri="{FF2B5EF4-FFF2-40B4-BE49-F238E27FC236}">
                <a16:creationId xmlns:a16="http://schemas.microsoft.com/office/drawing/2014/main" id="{BD0D972E-B3F8-45B5-B11A-B65B326015D2}"/>
              </a:ext>
            </a:extLst>
          </p:cNvPr>
          <p:cNvSpPr>
            <a:spLocks xmlns:a="http://schemas.openxmlformats.org/drawingml/2006/main" noGrp="1"/>
          </p:cNvSpPr>
          <p:nvPr/>
        </p:nvSpPr>
        <p:spPr>
          <a:xfrm xmlns:a="http://schemas.openxmlformats.org/drawingml/2006/main">
            <a:off x="9391650" y="2819400"/>
            <a:ext cx="1866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AUTHORIZE</a:t>
            </a:r>
          </a:p>
        </p:txBody>
      </p:sp>
      <p:sp>
        <p:nvSpPr>
          <p:cNvPr id="24" name="">
            <a:extLst xmlns:a="http://schemas.openxmlformats.org/drawingml/2006/main">
              <a:ext uri="{FF2B5EF4-FFF2-40B4-BE49-F238E27FC236}">
                <a16:creationId xmlns:a16="http://schemas.microsoft.com/office/drawing/2014/main" id="{09117EAA-293C-49DD-9147-49191547416C}"/>
              </a:ext>
            </a:extLst>
          </p:cNvPr>
          <p:cNvSpPr>
            <a:spLocks xmlns:a="http://schemas.openxmlformats.org/drawingml/2006/main" noGrp="1"/>
          </p:cNvSpPr>
          <p:nvPr/>
        </p:nvSpPr>
        <p:spPr>
          <a:xfrm xmlns:a="http://schemas.openxmlformats.org/drawingml/2006/main">
            <a:off x="9391650" y="3133725"/>
            <a:ext cx="18669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C7CBD1"/>
                </a:solidFill>
                <a:latin typeface="Avenir Next"/>
                <a:ea typeface="Avenir Next"/>
                <a:cs typeface="Avenir Next"/>
              </a:defRPr>
            </a:pPr>
            <a:r>
              <a:rPr sz="1275" b="0">
                <a:solidFill>
                  <a:srgbClr val="C7CBD1"/>
                </a:solidFill>
                <a:latin typeface="Avenir Next"/>
                <a:ea typeface="Avenir Next"/>
                <a:cs typeface="Avenir Next"/>
              </a:rPr>
              <a:t>A person approves the response and alert</a:t>
            </a:r>
          </a:p>
        </p:txBody>
      </p:sp>
      <p:sp>
        <p:nvSpPr>
          <p:cNvPr id="25" name="">
            <a:extLst xmlns:a="http://schemas.openxmlformats.org/drawingml/2006/main">
              <a:ext uri="{FF2B5EF4-FFF2-40B4-BE49-F238E27FC236}">
                <a16:creationId xmlns:a16="http://schemas.microsoft.com/office/drawing/2014/main" id="{BAA9AFFA-3108-4EEA-8250-064AD9A0BBE1}"/>
              </a:ext>
            </a:extLst>
          </p:cNvPr>
          <p:cNvSpPr>
            <a:spLocks xmlns:a="http://schemas.openxmlformats.org/drawingml/2006/main" noGrp="1"/>
          </p:cNvSpPr>
          <p:nvPr/>
        </p:nvSpPr>
        <p:spPr>
          <a:xfrm xmlns:a="http://schemas.openxmlformats.org/drawingml/2006/main">
            <a:off x="552450" y="4686300"/>
            <a:ext cx="11087100" cy="1066800"/>
          </a:xfrm>
          <a:prstGeom xmlns:a="http://schemas.openxmlformats.org/drawingml/2006/main" prst="roundRect">
            <a:avLst>
              <a:gd name="adj" fmla="val 8929"/>
            </a:avLst>
          </a:prstGeom>
          <a:solidFill xmlns:a="http://schemas.openxmlformats.org/drawingml/2006/main">
            <a:srgbClr val="2B3038"/>
          </a:solidFill>
          <a:ln xmlns:a="http://schemas.openxmlformats.org/drawingml/2006/main" w="9525">
            <a:solidFill>
              <a:srgbClr val="4A5059"/>
            </a:solidFill>
          </a:ln>
        </p:spPr>
        <p:txBody>
          <a:bodyPr xmlns:a="http://schemas.openxmlformats.org/drawingml/2006/main" lIns="247650" tIns="247650" rIns="247650" bIns="247650" anchor="ctr">
            <a:normAutofit fontScale="100000"/>
          </a:bodyPr>
          <a:lstStyle xmlns:a="http://schemas.openxmlformats.org/drawingml/2006/main"/>
          <a:p xmlns:a="http://schemas.openxmlformats.org/drawingml/2006/main">
            <a:pPr algn="ctr">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AEGIS does not dispatch independently. It organizes evidence, proposes matches and routes, and records the authorized human decision.</a:t>
            </a:r>
          </a:p>
        </p:txBody>
      </p:sp>
      <p:sp>
        <p:nvSpPr>
          <p:cNvPr id="26" name="">
            <a:extLst xmlns:a="http://schemas.openxmlformats.org/drawingml/2006/main">
              <a:ext uri="{FF2B5EF4-FFF2-40B4-BE49-F238E27FC236}">
                <a16:creationId xmlns:a16="http://schemas.microsoft.com/office/drawing/2014/main" id="{3BCD4DA4-8ED5-4708-BDF7-CF186167F341}"/>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A9ADB4"/>
                </a:solidFill>
                <a:latin typeface="Avenir Next"/>
                <a:ea typeface="Avenir Next"/>
                <a:cs typeface="Avenir Next"/>
              </a:defRPr>
            </a:pPr>
            <a:r>
              <a:rPr sz="675" b="0">
                <a:solidFill>
                  <a:srgbClr val="A9ADB4"/>
                </a:solidFill>
                <a:latin typeface="Avenir Next"/>
                <a:ea typeface="Avenir Next"/>
                <a:cs typeface="Avenir Next"/>
              </a:rPr>
              <a:t>Human authorization is an implemented control</a:t>
            </a:r>
          </a:p>
        </p:txBody>
      </p:sp>
    </p:spTree>
    <p:extLst>
      <p:ext uri="{BB962C8B-B14F-4D97-AF65-F5344CB8AC3E}">
        <p14:creationId xmlns:p14="http://schemas.microsoft.com/office/powerpoint/2010/main" val="1714002179"/>
      </p:ext>
    </p:extLst>
  </p:cSld>
</p:sld>
</file>

<file path=ppt/slides/slide4.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C2CEC5-F188-4E74-A95A-68278590689B}"/>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THE USERS</a:t>
            </a:r>
          </a:p>
        </p:txBody>
      </p:sp>
      <p:sp>
        <p:nvSpPr>
          <p:cNvPr id="2" name="">
            <a:extLst xmlns:a="http://schemas.openxmlformats.org/drawingml/2006/main">
              <a:ext uri="{FF2B5EF4-FFF2-40B4-BE49-F238E27FC236}">
                <a16:creationId xmlns:a16="http://schemas.microsoft.com/office/drawing/2014/main" id="{4636F94C-7C74-4F75-ABF6-C3A6F19E3306}"/>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Three focused experiences create one shared operational truth.</a:t>
            </a:r>
          </a:p>
        </p:txBody>
      </p:sp>
      <p:sp>
        <p:nvSpPr>
          <p:cNvPr id="3" name="">
            <a:extLst xmlns:a="http://schemas.openxmlformats.org/drawingml/2006/main">
              <a:ext uri="{FF2B5EF4-FFF2-40B4-BE49-F238E27FC236}">
                <a16:creationId xmlns:a16="http://schemas.microsoft.com/office/drawing/2014/main" id="{3385E1FF-A517-40BD-A673-991ACF2FE903}"/>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E2F771F1-D19B-4BD9-9D88-B18DB65D8BA7}"/>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F7F84B1E-9AFA-4BCE-8CDD-6C6905CF7585}"/>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01D32551-301E-4727-B401-6B5E77BFB858}"/>
              </a:ext>
            </a:extLst>
          </p:cNvPr>
          <p:cNvSpPr>
            <a:spLocks xmlns:a="http://schemas.openxmlformats.org/drawingml/2006/main" noGrp="1"/>
          </p:cNvSpPr>
          <p:nvPr/>
        </p:nvSpPr>
        <p:spPr>
          <a:xfrm xmlns:a="http://schemas.openxmlformats.org/drawingml/2006/main">
            <a:off x="552450" y="207645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RESIDENT</a:t>
            </a:r>
          </a:p>
        </p:txBody>
      </p:sp>
      <p:sp>
        <p:nvSpPr>
          <p:cNvPr id="7" name="">
            <a:extLst xmlns:a="http://schemas.openxmlformats.org/drawingml/2006/main">
              <a:ext uri="{FF2B5EF4-FFF2-40B4-BE49-F238E27FC236}">
                <a16:creationId xmlns:a16="http://schemas.microsoft.com/office/drawing/2014/main" id="{6FFA266C-764E-4645-A090-22ACA61BB263}"/>
              </a:ext>
            </a:extLst>
          </p:cNvPr>
          <p:cNvSpPr>
            <a:spLocks xmlns:a="http://schemas.openxmlformats.org/drawingml/2006/main" noGrp="1"/>
          </p:cNvSpPr>
          <p:nvPr/>
        </p:nvSpPr>
        <p:spPr>
          <a:xfrm xmlns:a="http://schemas.openxmlformats.org/drawingml/2006/main">
            <a:off x="552450" y="2381250"/>
            <a:ext cx="3238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21722"/>
                </a:solidFill>
                <a:latin typeface="Avenir Next"/>
                <a:ea typeface="Avenir Next"/>
                <a:cs typeface="Avenir Next"/>
              </a:defRPr>
            </a:pPr>
            <a:r>
              <a:rPr sz="2175" b="1">
                <a:solidFill>
                  <a:srgbClr val="121722"/>
                </a:solidFill>
                <a:latin typeface="Avenir Next"/>
                <a:ea typeface="Avenir Next"/>
                <a:cs typeface="Avenir Next"/>
              </a:rPr>
              <a:t>Get help</a:t>
            </a:r>
          </a:p>
        </p:txBody>
      </p:sp>
      <p:sp>
        <p:nvSpPr>
          <p:cNvPr id="8" name="">
            <a:extLst xmlns:a="http://schemas.openxmlformats.org/drawingml/2006/main">
              <a:ext uri="{FF2B5EF4-FFF2-40B4-BE49-F238E27FC236}">
                <a16:creationId xmlns:a16="http://schemas.microsoft.com/office/drawing/2014/main" id="{6E1F4CC1-CF6F-48F8-89BA-EFB302142D03}"/>
              </a:ext>
            </a:extLst>
          </p:cNvPr>
          <p:cNvSpPr>
            <a:spLocks xmlns:a="http://schemas.openxmlformats.org/drawingml/2006/main" noGrp="1"/>
          </p:cNvSpPr>
          <p:nvPr/>
        </p:nvSpPr>
        <p:spPr>
          <a:xfrm xmlns:a="http://schemas.openxmlformats.org/drawingml/2006/main">
            <a:off x="552450" y="2914650"/>
            <a:ext cx="3238500" cy="38100"/>
          </a:xfrm>
          <a:prstGeom xmlns:a="http://schemas.openxmlformats.org/drawingml/2006/main" prst="rect">
            <a:avLst/>
          </a:prstGeom>
          <a:solidFill xmlns:a="http://schemas.openxmlformats.org/drawingml/2006/main">
            <a:srgbClr val="C65D3B"/>
          </a:solidFill>
          <a:ln xmlns:a="http://schemas.openxmlformats.org/drawingml/2006/main" w="0">
            <a:solidFill>
              <a:srgbClr val="000000">
                <a:alpha val="0"/>
              </a:srgbClr>
            </a:solidFill>
          </a:ln>
        </p:spPr>
      </p:sp>
      <p:sp>
        <p:nvSpPr>
          <p:cNvPr id="9" name="">
            <a:extLst xmlns:a="http://schemas.openxmlformats.org/drawingml/2006/main">
              <a:ext uri="{FF2B5EF4-FFF2-40B4-BE49-F238E27FC236}">
                <a16:creationId xmlns:a16="http://schemas.microsoft.com/office/drawing/2014/main" id="{43CA451A-CCA1-45E7-8C22-FAB068CAD3FA}"/>
              </a:ext>
            </a:extLst>
          </p:cNvPr>
          <p:cNvSpPr>
            <a:spLocks xmlns:a="http://schemas.openxmlformats.org/drawingml/2006/main" noGrp="1"/>
          </p:cNvSpPr>
          <p:nvPr/>
        </p:nvSpPr>
        <p:spPr>
          <a:xfrm xmlns:a="http://schemas.openxmlformats.org/drawingml/2006/main">
            <a:off x="552450" y="3162300"/>
            <a:ext cx="3238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26075"/>
                </a:solidFill>
                <a:latin typeface="Avenir Next"/>
                <a:ea typeface="Avenir Next"/>
                <a:cs typeface="Avenir Next"/>
              </a:defRPr>
            </a:pPr>
            <a:r>
              <a:rPr sz="1350" b="0">
                <a:solidFill>
                  <a:srgbClr val="526075"/>
                </a:solidFill>
                <a:latin typeface="Avenir Next"/>
                <a:ea typeface="Avenir Next"/>
                <a:cs typeface="Avenir Next"/>
              </a:rPr>
              <a:t>State the need, location, and vulnerability. See immediate safety guidance and verified nearby capacity.</a:t>
            </a:r>
          </a:p>
        </p:txBody>
      </p:sp>
      <p:sp>
        <p:nvSpPr>
          <p:cNvPr id="10" name="">
            <a:extLst xmlns:a="http://schemas.openxmlformats.org/drawingml/2006/main">
              <a:ext uri="{FF2B5EF4-FFF2-40B4-BE49-F238E27FC236}">
                <a16:creationId xmlns:a16="http://schemas.microsoft.com/office/drawing/2014/main" id="{D4259A24-7E9A-4E11-BE0A-3E8D79ED3238}"/>
              </a:ext>
            </a:extLst>
          </p:cNvPr>
          <p:cNvSpPr>
            <a:spLocks xmlns:a="http://schemas.openxmlformats.org/drawingml/2006/main" noGrp="1"/>
          </p:cNvSpPr>
          <p:nvPr/>
        </p:nvSpPr>
        <p:spPr>
          <a:xfrm xmlns:a="http://schemas.openxmlformats.org/drawingml/2006/main">
            <a:off x="4248150" y="207645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COMMUNITY</a:t>
            </a:r>
          </a:p>
        </p:txBody>
      </p:sp>
      <p:sp>
        <p:nvSpPr>
          <p:cNvPr id="11" name="">
            <a:extLst xmlns:a="http://schemas.openxmlformats.org/drawingml/2006/main">
              <a:ext uri="{FF2B5EF4-FFF2-40B4-BE49-F238E27FC236}">
                <a16:creationId xmlns:a16="http://schemas.microsoft.com/office/drawing/2014/main" id="{3087A357-55B0-4D15-886A-257FC646D332}"/>
              </a:ext>
            </a:extLst>
          </p:cNvPr>
          <p:cNvSpPr>
            <a:spLocks xmlns:a="http://schemas.openxmlformats.org/drawingml/2006/main" noGrp="1"/>
          </p:cNvSpPr>
          <p:nvPr/>
        </p:nvSpPr>
        <p:spPr>
          <a:xfrm xmlns:a="http://schemas.openxmlformats.org/drawingml/2006/main">
            <a:off x="4248150" y="2381250"/>
            <a:ext cx="3238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21722"/>
                </a:solidFill>
                <a:latin typeface="Avenir Next"/>
                <a:ea typeface="Avenir Next"/>
                <a:cs typeface="Avenir Next"/>
              </a:defRPr>
            </a:pPr>
            <a:r>
              <a:rPr sz="2175" b="1">
                <a:solidFill>
                  <a:srgbClr val="121722"/>
                </a:solidFill>
                <a:latin typeface="Avenir Next"/>
                <a:ea typeface="Avenir Next"/>
                <a:cs typeface="Avenir Next"/>
              </a:rPr>
              <a:t>Offer support</a:t>
            </a:r>
          </a:p>
        </p:txBody>
      </p:sp>
      <p:sp>
        <p:nvSpPr>
          <p:cNvPr id="12" name="">
            <a:extLst xmlns:a="http://schemas.openxmlformats.org/drawingml/2006/main">
              <a:ext uri="{FF2B5EF4-FFF2-40B4-BE49-F238E27FC236}">
                <a16:creationId xmlns:a16="http://schemas.microsoft.com/office/drawing/2014/main" id="{52AE5957-23E3-4B5F-862E-ED464EFA9DDF}"/>
              </a:ext>
            </a:extLst>
          </p:cNvPr>
          <p:cNvSpPr>
            <a:spLocks xmlns:a="http://schemas.openxmlformats.org/drawingml/2006/main" noGrp="1"/>
          </p:cNvSpPr>
          <p:nvPr/>
        </p:nvSpPr>
        <p:spPr>
          <a:xfrm xmlns:a="http://schemas.openxmlformats.org/drawingml/2006/main">
            <a:off x="4248150" y="2914650"/>
            <a:ext cx="3238500" cy="38100"/>
          </a:xfrm>
          <a:prstGeom xmlns:a="http://schemas.openxmlformats.org/drawingml/2006/main" prst="rect">
            <a:avLst/>
          </a:prstGeom>
          <a:solidFill xmlns:a="http://schemas.openxmlformats.org/drawingml/2006/main">
            <a:srgbClr val="D9B26F"/>
          </a:solidFill>
          <a:ln xmlns:a="http://schemas.openxmlformats.org/drawingml/2006/main" w="0">
            <a:solidFill>
              <a:srgbClr val="000000">
                <a:alpha val="0"/>
              </a:srgbClr>
            </a:solidFill>
          </a:ln>
        </p:spPr>
      </p:sp>
      <p:sp>
        <p:nvSpPr>
          <p:cNvPr id="13" name="">
            <a:extLst xmlns:a="http://schemas.openxmlformats.org/drawingml/2006/main">
              <a:ext uri="{FF2B5EF4-FFF2-40B4-BE49-F238E27FC236}">
                <a16:creationId xmlns:a16="http://schemas.microsoft.com/office/drawing/2014/main" id="{B87F82F6-3CEB-4B98-A136-080D28A917F4}"/>
              </a:ext>
            </a:extLst>
          </p:cNvPr>
          <p:cNvSpPr>
            <a:spLocks xmlns:a="http://schemas.openxmlformats.org/drawingml/2006/main" noGrp="1"/>
          </p:cNvSpPr>
          <p:nvPr/>
        </p:nvSpPr>
        <p:spPr>
          <a:xfrm xmlns:a="http://schemas.openxmlformats.org/drawingml/2006/main">
            <a:off x="4248150" y="3162300"/>
            <a:ext cx="3238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26075"/>
                </a:solidFill>
                <a:latin typeface="Avenir Next"/>
                <a:ea typeface="Avenir Next"/>
                <a:cs typeface="Avenir Next"/>
              </a:defRPr>
            </a:pPr>
            <a:r>
              <a:rPr sz="1350" b="0">
                <a:solidFill>
                  <a:srgbClr val="526075"/>
                </a:solidFill>
                <a:latin typeface="Avenir Next"/>
                <a:ea typeface="Avenir Next"/>
                <a:cs typeface="Avenir Next"/>
              </a:rPr>
              <a:t>Register volunteer skills, travel radius, shelter space, accessibility, pets, and backup power.</a:t>
            </a:r>
          </a:p>
        </p:txBody>
      </p:sp>
      <p:sp>
        <p:nvSpPr>
          <p:cNvPr id="14" name="">
            <a:extLst xmlns:a="http://schemas.openxmlformats.org/drawingml/2006/main">
              <a:ext uri="{FF2B5EF4-FFF2-40B4-BE49-F238E27FC236}">
                <a16:creationId xmlns:a16="http://schemas.microsoft.com/office/drawing/2014/main" id="{821E2172-6A7C-4654-8BD5-E48B0A071221}"/>
              </a:ext>
            </a:extLst>
          </p:cNvPr>
          <p:cNvSpPr>
            <a:spLocks xmlns:a="http://schemas.openxmlformats.org/drawingml/2006/main" noGrp="1"/>
          </p:cNvSpPr>
          <p:nvPr/>
        </p:nvSpPr>
        <p:spPr>
          <a:xfrm xmlns:a="http://schemas.openxmlformats.org/drawingml/2006/main">
            <a:off x="7943850" y="207645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COORDINATOR</a:t>
            </a:r>
          </a:p>
        </p:txBody>
      </p:sp>
      <p:sp>
        <p:nvSpPr>
          <p:cNvPr id="15" name="">
            <a:extLst xmlns:a="http://schemas.openxmlformats.org/drawingml/2006/main">
              <a:ext uri="{FF2B5EF4-FFF2-40B4-BE49-F238E27FC236}">
                <a16:creationId xmlns:a16="http://schemas.microsoft.com/office/drawing/2014/main" id="{742DEBC9-E8A8-43EA-AB63-5F7BCB6944C2}"/>
              </a:ext>
            </a:extLst>
          </p:cNvPr>
          <p:cNvSpPr>
            <a:spLocks xmlns:a="http://schemas.openxmlformats.org/drawingml/2006/main" noGrp="1"/>
          </p:cNvSpPr>
          <p:nvPr/>
        </p:nvSpPr>
        <p:spPr>
          <a:xfrm xmlns:a="http://schemas.openxmlformats.org/drawingml/2006/main">
            <a:off x="7943850" y="2381250"/>
            <a:ext cx="3238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21722"/>
                </a:solidFill>
                <a:latin typeface="Avenir Next"/>
                <a:ea typeface="Avenir Next"/>
                <a:cs typeface="Avenir Next"/>
              </a:defRPr>
            </a:pPr>
            <a:r>
              <a:rPr sz="2175" b="1">
                <a:solidFill>
                  <a:srgbClr val="121722"/>
                </a:solidFill>
                <a:latin typeface="Avenir Next"/>
                <a:ea typeface="Avenir Next"/>
                <a:cs typeface="Avenir Next"/>
              </a:rPr>
              <a:t>Coordinate response</a:t>
            </a:r>
          </a:p>
        </p:txBody>
      </p:sp>
      <p:sp>
        <p:nvSpPr>
          <p:cNvPr id="16" name="">
            <a:extLst xmlns:a="http://schemas.openxmlformats.org/drawingml/2006/main">
              <a:ext uri="{FF2B5EF4-FFF2-40B4-BE49-F238E27FC236}">
                <a16:creationId xmlns:a16="http://schemas.microsoft.com/office/drawing/2014/main" id="{B725B928-4E6D-4858-91D5-7C75FF34ADF9}"/>
              </a:ext>
            </a:extLst>
          </p:cNvPr>
          <p:cNvSpPr>
            <a:spLocks xmlns:a="http://schemas.openxmlformats.org/drawingml/2006/main" noGrp="1"/>
          </p:cNvSpPr>
          <p:nvPr/>
        </p:nvSpPr>
        <p:spPr>
          <a:xfrm xmlns:a="http://schemas.openxmlformats.org/drawingml/2006/main">
            <a:off x="7943850" y="2914650"/>
            <a:ext cx="3238500" cy="38100"/>
          </a:xfrm>
          <a:prstGeom xmlns:a="http://schemas.openxmlformats.org/drawingml/2006/main" prst="rect">
            <a:avLst/>
          </a:prstGeom>
          <a:solidFill xmlns:a="http://schemas.openxmlformats.org/drawingml/2006/main">
            <a:srgbClr val="C65D3B"/>
          </a:solidFill>
          <a:ln xmlns:a="http://schemas.openxmlformats.org/drawingml/2006/main" w="0">
            <a:solidFill>
              <a:srgbClr val="000000">
                <a:alpha val="0"/>
              </a:srgbClr>
            </a:solidFill>
          </a:ln>
        </p:spPr>
      </p:sp>
      <p:sp>
        <p:nvSpPr>
          <p:cNvPr id="17" name="">
            <a:extLst xmlns:a="http://schemas.openxmlformats.org/drawingml/2006/main">
              <a:ext uri="{FF2B5EF4-FFF2-40B4-BE49-F238E27FC236}">
                <a16:creationId xmlns:a16="http://schemas.microsoft.com/office/drawing/2014/main" id="{BAC510F2-8181-423C-AFEB-B69E97A31912}"/>
              </a:ext>
            </a:extLst>
          </p:cNvPr>
          <p:cNvSpPr>
            <a:spLocks xmlns:a="http://schemas.openxmlformats.org/drawingml/2006/main" noGrp="1"/>
          </p:cNvSpPr>
          <p:nvPr/>
        </p:nvSpPr>
        <p:spPr>
          <a:xfrm xmlns:a="http://schemas.openxmlformats.org/drawingml/2006/main">
            <a:off x="7943850" y="3162300"/>
            <a:ext cx="3238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26075"/>
                </a:solidFill>
                <a:latin typeface="Avenir Next"/>
                <a:ea typeface="Avenir Next"/>
                <a:cs typeface="Avenir Next"/>
              </a:defRPr>
            </a:pPr>
            <a:r>
              <a:rPr sz="1350" b="0">
                <a:solidFill>
                  <a:srgbClr val="526075"/>
                </a:solidFill>
                <a:latin typeface="Avenir Next"/>
                <a:ea typeface="Avenir Next"/>
                <a:cs typeface="Avenir Next"/>
              </a:rPr>
              <a:t>Verify evidence and offers, choose staging sites, match resources, route aid, and authorize action.</a:t>
            </a:r>
          </a:p>
        </p:txBody>
      </p:sp>
      <p:sp>
        <p:nvSpPr>
          <p:cNvPr id="18" name="">
            <a:extLst xmlns:a="http://schemas.openxmlformats.org/drawingml/2006/main">
              <a:ext uri="{FF2B5EF4-FFF2-40B4-BE49-F238E27FC236}">
                <a16:creationId xmlns:a16="http://schemas.microsoft.com/office/drawing/2014/main" id="{3EDC785F-197B-484D-A4F9-C04524A41098}"/>
              </a:ext>
            </a:extLst>
          </p:cNvPr>
          <p:cNvSpPr>
            <a:spLocks xmlns:a="http://schemas.openxmlformats.org/drawingml/2006/main" noGrp="1"/>
          </p:cNvSpPr>
          <p:nvPr/>
        </p:nvSpPr>
        <p:spPr>
          <a:xfrm xmlns:a="http://schemas.openxmlformats.org/drawingml/2006/main">
            <a:off x="552450" y="4838700"/>
            <a:ext cx="11087100" cy="933450"/>
          </a:xfrm>
          <a:prstGeom xmlns:a="http://schemas.openxmlformats.org/drawingml/2006/main" prst="roundRect">
            <a:avLst>
              <a:gd name="adj" fmla="val 10204"/>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71450" tIns="171450" rIns="171450" bIns="171450" anchor="ctr">
            <a:normAutofit fontScale="100000"/>
          </a:bodyPr>
          <a:lstStyle xmlns:a="http://schemas.openxmlformats.org/drawingml/2006/main"/>
          <a:p xmlns:a="http://schemas.openxmlformats.org/drawingml/2006/main">
            <a:pPr algn="ctr">
              <a:defRPr sz="1875" b="1">
                <a:solidFill>
                  <a:srgbClr val="121722"/>
                </a:solidFill>
                <a:latin typeface="Avenir Next"/>
                <a:ea typeface="Avenir Next"/>
                <a:cs typeface="Avenir Next"/>
              </a:defRPr>
            </a:pPr>
            <a:r>
              <a:rPr sz="1875" b="1">
                <a:solidFill>
                  <a:srgbClr val="121722"/>
                </a:solidFill>
                <a:latin typeface="Avenir Next"/>
                <a:ea typeface="Avenir Next"/>
                <a:cs typeface="Avenir Next"/>
              </a:rPr>
              <a:t>One record follows the incident from request to verification, assignment, alert, and audit.</a:t>
            </a:r>
          </a:p>
        </p:txBody>
      </p:sp>
      <p:sp>
        <p:nvSpPr>
          <p:cNvPr id="19" name="">
            <a:extLst xmlns:a="http://schemas.openxmlformats.org/drawingml/2006/main">
              <a:ext uri="{FF2B5EF4-FFF2-40B4-BE49-F238E27FC236}">
                <a16:creationId xmlns:a16="http://schemas.microsoft.com/office/drawing/2014/main" id="{75576397-264B-4C7E-AAE1-C14CC111D4A5}"/>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Implemented entry points: /help, /support, /operations</a:t>
            </a:r>
          </a:p>
        </p:txBody>
      </p:sp>
    </p:spTree>
    <p:extLst>
      <p:ext uri="{BB962C8B-B14F-4D97-AF65-F5344CB8AC3E}">
        <p14:creationId xmlns:p14="http://schemas.microsoft.com/office/powerpoint/2010/main" val="1571274214"/>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DF721E-AEEF-4F11-808B-6117AEA62E36}"/>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ARCHITECTURE</a:t>
            </a:r>
          </a:p>
        </p:txBody>
      </p:sp>
      <p:sp>
        <p:nvSpPr>
          <p:cNvPr id="2" name="">
            <a:extLst xmlns:a="http://schemas.openxmlformats.org/drawingml/2006/main">
              <a:ext uri="{FF2B5EF4-FFF2-40B4-BE49-F238E27FC236}">
                <a16:creationId xmlns:a16="http://schemas.microsoft.com/office/drawing/2014/main" id="{50EC8E0E-3881-41C8-B561-758DA11721C0}"/>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Specialized agents turn live signals into one reviewable response plan.</a:t>
            </a:r>
          </a:p>
        </p:txBody>
      </p:sp>
      <p:sp>
        <p:nvSpPr>
          <p:cNvPr id="3" name="">
            <a:extLst xmlns:a="http://schemas.openxmlformats.org/drawingml/2006/main">
              <a:ext uri="{FF2B5EF4-FFF2-40B4-BE49-F238E27FC236}">
                <a16:creationId xmlns:a16="http://schemas.microsoft.com/office/drawing/2014/main" id="{59E8ABE5-5564-4947-85F3-2CECA088B19A}"/>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80A39085-C5A7-450D-929F-7EE2D23F5D7B}"/>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0181689E-3479-414D-B794-61BCB3CA885C}"/>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05</a:t>
            </a:r>
          </a:p>
        </p:txBody>
      </p:sp>
      <p:sp>
        <p:nvSpPr>
          <p:cNvPr id="6" name="">
            <a:extLst xmlns:a="http://schemas.openxmlformats.org/drawingml/2006/main">
              <a:ext uri="{FF2B5EF4-FFF2-40B4-BE49-F238E27FC236}">
                <a16:creationId xmlns:a16="http://schemas.microsoft.com/office/drawing/2014/main" id="{A720D330-CEFC-481D-A314-90236286F59F}"/>
              </a:ext>
            </a:extLst>
          </p:cNvPr>
          <p:cNvSpPr>
            <a:spLocks xmlns:a="http://schemas.openxmlformats.org/drawingml/2006/main" noGrp="1"/>
          </p:cNvSpPr>
          <p:nvPr/>
        </p:nvSpPr>
        <p:spPr>
          <a:xfrm xmlns:a="http://schemas.openxmlformats.org/drawingml/2006/main">
            <a:off x="552450" y="2076450"/>
            <a:ext cx="219075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33350" tIns="133350" rIns="133350" bIns="133350" anchor="t">
            <a:normAutofit fontScale="10000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RESIDENTS</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Help requests</a:t>
            </a:r>
          </a:p>
        </p:txBody>
      </p:sp>
      <p:sp>
        <p:nvSpPr>
          <p:cNvPr id="7" name="">
            <a:extLst xmlns:a="http://schemas.openxmlformats.org/drawingml/2006/main">
              <a:ext uri="{FF2B5EF4-FFF2-40B4-BE49-F238E27FC236}">
                <a16:creationId xmlns:a16="http://schemas.microsoft.com/office/drawing/2014/main" id="{71CCF7FC-2286-4F17-A123-09650FBBE694}"/>
              </a:ext>
            </a:extLst>
          </p:cNvPr>
          <p:cNvSpPr>
            <a:spLocks xmlns:a="http://schemas.openxmlformats.org/drawingml/2006/main" noGrp="1"/>
          </p:cNvSpPr>
          <p:nvPr/>
        </p:nvSpPr>
        <p:spPr>
          <a:xfrm xmlns:a="http://schemas.openxmlformats.org/drawingml/2006/main">
            <a:off x="2857500" y="226695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C65D3B"/>
                </a:solidFill>
                <a:latin typeface="Avenir Next"/>
                <a:ea typeface="Avenir Next"/>
                <a:cs typeface="Avenir Next"/>
              </a:defRPr>
            </a:pPr>
            <a:r>
              <a:rPr sz="1725" b="1">
                <a:solidFill>
                  <a:srgbClr val="C65D3B"/>
                </a:solidFill>
                <a:latin typeface="Avenir Next"/>
                <a:ea typeface="Avenir Next"/>
                <a:cs typeface="Avenir Next"/>
              </a:rPr>
              <a:t>→</a:t>
            </a:r>
          </a:p>
        </p:txBody>
      </p:sp>
      <p:sp>
        <p:nvSpPr>
          <p:cNvPr id="8" name="">
            <a:extLst xmlns:a="http://schemas.openxmlformats.org/drawingml/2006/main">
              <a:ext uri="{FF2B5EF4-FFF2-40B4-BE49-F238E27FC236}">
                <a16:creationId xmlns:a16="http://schemas.microsoft.com/office/drawing/2014/main" id="{7E258A84-6AA5-4744-94C6-690D0ED7353A}"/>
              </a:ext>
            </a:extLst>
          </p:cNvPr>
          <p:cNvSpPr>
            <a:spLocks xmlns:a="http://schemas.openxmlformats.org/drawingml/2006/main" noGrp="1"/>
          </p:cNvSpPr>
          <p:nvPr/>
        </p:nvSpPr>
        <p:spPr>
          <a:xfrm xmlns:a="http://schemas.openxmlformats.org/drawingml/2006/main">
            <a:off x="552450" y="3143250"/>
            <a:ext cx="219075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33350" tIns="133350" rIns="133350" bIns="133350" anchor="t">
            <a:normAutofit fontScale="91443"/>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COMMUNITY</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Volunteer and shelter capacity</a:t>
            </a:r>
          </a:p>
        </p:txBody>
      </p:sp>
      <p:sp>
        <p:nvSpPr>
          <p:cNvPr id="9" name="">
            <a:extLst xmlns:a="http://schemas.openxmlformats.org/drawingml/2006/main">
              <a:ext uri="{FF2B5EF4-FFF2-40B4-BE49-F238E27FC236}">
                <a16:creationId xmlns:a16="http://schemas.microsoft.com/office/drawing/2014/main" id="{1C768D82-DACE-4BA7-BE79-FEE70216A3BD}"/>
              </a:ext>
            </a:extLst>
          </p:cNvPr>
          <p:cNvSpPr>
            <a:spLocks xmlns:a="http://schemas.openxmlformats.org/drawingml/2006/main" noGrp="1"/>
          </p:cNvSpPr>
          <p:nvPr/>
        </p:nvSpPr>
        <p:spPr>
          <a:xfrm xmlns:a="http://schemas.openxmlformats.org/drawingml/2006/main">
            <a:off x="2857500" y="333375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C65D3B"/>
                </a:solidFill>
                <a:latin typeface="Avenir Next"/>
                <a:ea typeface="Avenir Next"/>
                <a:cs typeface="Avenir Next"/>
              </a:defRPr>
            </a:pPr>
            <a:r>
              <a:rPr sz="1725" b="1">
                <a:solidFill>
                  <a:srgbClr val="C65D3B"/>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CA87A5F4-6FBC-4F91-87E6-0F10D86865B1}"/>
              </a:ext>
            </a:extLst>
          </p:cNvPr>
          <p:cNvSpPr>
            <a:spLocks xmlns:a="http://schemas.openxmlformats.org/drawingml/2006/main" noGrp="1"/>
          </p:cNvSpPr>
          <p:nvPr/>
        </p:nvSpPr>
        <p:spPr>
          <a:xfrm xmlns:a="http://schemas.openxmlformats.org/drawingml/2006/main">
            <a:off x="552450" y="4210050"/>
            <a:ext cx="2190750" cy="723900"/>
          </a:xfrm>
          <a:prstGeom xmlns:a="http://schemas.openxmlformats.org/drawingml/2006/main" prst="roundRect">
            <a:avLst>
              <a:gd name="adj" fmla="val 13158"/>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33350" tIns="133350" rIns="133350" bIns="133350" anchor="t">
            <a:normAutofit fontScale="9253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LIVE SOURCES</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Weather, map, staging, routes</a:t>
            </a:r>
          </a:p>
        </p:txBody>
      </p:sp>
      <p:sp>
        <p:nvSpPr>
          <p:cNvPr id="11" name="">
            <a:extLst xmlns:a="http://schemas.openxmlformats.org/drawingml/2006/main">
              <a:ext uri="{FF2B5EF4-FFF2-40B4-BE49-F238E27FC236}">
                <a16:creationId xmlns:a16="http://schemas.microsoft.com/office/drawing/2014/main" id="{E91E1F30-5C7C-452E-A239-29284EBC3384}"/>
              </a:ext>
            </a:extLst>
          </p:cNvPr>
          <p:cNvSpPr>
            <a:spLocks xmlns:a="http://schemas.openxmlformats.org/drawingml/2006/main" noGrp="1"/>
          </p:cNvSpPr>
          <p:nvPr/>
        </p:nvSpPr>
        <p:spPr>
          <a:xfrm xmlns:a="http://schemas.openxmlformats.org/drawingml/2006/main">
            <a:off x="2857500" y="440055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C65D3B"/>
                </a:solidFill>
                <a:latin typeface="Avenir Next"/>
                <a:ea typeface="Avenir Next"/>
                <a:cs typeface="Avenir Next"/>
              </a:defRPr>
            </a:pPr>
            <a:r>
              <a:rPr sz="1725" b="1">
                <a:solidFill>
                  <a:srgbClr val="C65D3B"/>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602BA199-1C90-417E-93F1-DA15A6AE2CD3}"/>
              </a:ext>
            </a:extLst>
          </p:cNvPr>
          <p:cNvSpPr>
            <a:spLocks xmlns:a="http://schemas.openxmlformats.org/drawingml/2006/main" noGrp="1"/>
          </p:cNvSpPr>
          <p:nvPr/>
        </p:nvSpPr>
        <p:spPr>
          <a:xfrm xmlns:a="http://schemas.openxmlformats.org/drawingml/2006/main">
            <a:off x="3333750" y="1981200"/>
            <a:ext cx="5105400" cy="3352800"/>
          </a:xfrm>
          <a:prstGeom xmlns:a="http://schemas.openxmlformats.org/drawingml/2006/main" prst="roundRect">
            <a:avLst>
              <a:gd name="adj" fmla="val 2841"/>
            </a:avLst>
          </a:prstGeom>
          <a:solidFill xmlns:a="http://schemas.openxmlformats.org/drawingml/2006/main">
            <a:srgbClr val="20242B"/>
          </a:solidFill>
          <a:ln xmlns:a="http://schemas.openxmlformats.org/drawingml/2006/main" w="0">
            <a:solidFill>
              <a:srgbClr val="000000">
                <a:alpha val="0"/>
              </a:srgbClr>
            </a:solidFill>
          </a:ln>
        </p:spPr>
      </p:sp>
      <p:sp>
        <p:nvSpPr>
          <p:cNvPr id="13" name="">
            <a:extLst xmlns:a="http://schemas.openxmlformats.org/drawingml/2006/main">
              <a:ext uri="{FF2B5EF4-FFF2-40B4-BE49-F238E27FC236}">
                <a16:creationId xmlns:a16="http://schemas.microsoft.com/office/drawing/2014/main" id="{BF08655E-EF61-4918-91F0-5D99937E92EC}"/>
              </a:ext>
            </a:extLst>
          </p:cNvPr>
          <p:cNvSpPr>
            <a:spLocks xmlns:a="http://schemas.openxmlformats.org/drawingml/2006/main" noGrp="1"/>
          </p:cNvSpPr>
          <p:nvPr/>
        </p:nvSpPr>
        <p:spPr>
          <a:xfrm xmlns:a="http://schemas.openxmlformats.org/drawingml/2006/main">
            <a:off x="3619500" y="2190750"/>
            <a:ext cx="453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D9B26F"/>
                </a:solidFill>
                <a:latin typeface="Avenir Next"/>
                <a:ea typeface="Avenir Next"/>
                <a:cs typeface="Avenir Next"/>
              </a:defRPr>
            </a:pPr>
            <a:r>
              <a:rPr sz="900" b="1">
                <a:solidFill>
                  <a:srgbClr val="D9B26F"/>
                </a:solidFill>
                <a:latin typeface="Avenir Next"/>
                <a:ea typeface="Avenir Next"/>
                <a:cs typeface="Avenir Next"/>
              </a:rPr>
              <a:t>AEGIS ORCHESTRATION</a:t>
            </a:r>
          </a:p>
        </p:txBody>
      </p:sp>
      <p:sp>
        <p:nvSpPr>
          <p:cNvPr id="14" name="">
            <a:extLst xmlns:a="http://schemas.openxmlformats.org/drawingml/2006/main">
              <a:ext uri="{FF2B5EF4-FFF2-40B4-BE49-F238E27FC236}">
                <a16:creationId xmlns:a16="http://schemas.microsoft.com/office/drawing/2014/main" id="{751C490B-CD22-4E74-81B2-B801A9164576}"/>
              </a:ext>
            </a:extLst>
          </p:cNvPr>
          <p:cNvSpPr>
            <a:spLocks xmlns:a="http://schemas.openxmlformats.org/drawingml/2006/main" noGrp="1"/>
          </p:cNvSpPr>
          <p:nvPr/>
        </p:nvSpPr>
        <p:spPr>
          <a:xfrm xmlns:a="http://schemas.openxmlformats.org/drawingml/2006/main">
            <a:off x="3600450" y="26098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Alert aggregation</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Collect and normalize</a:t>
            </a:r>
          </a:p>
        </p:txBody>
      </p:sp>
      <p:sp>
        <p:nvSpPr>
          <p:cNvPr id="15" name="">
            <a:extLst xmlns:a="http://schemas.openxmlformats.org/drawingml/2006/main">
              <a:ext uri="{FF2B5EF4-FFF2-40B4-BE49-F238E27FC236}">
                <a16:creationId xmlns:a16="http://schemas.microsoft.com/office/drawing/2014/main" id="{912C7E83-2FF3-49CD-8EA7-82660EFE93C8}"/>
              </a:ext>
            </a:extLst>
          </p:cNvPr>
          <p:cNvSpPr>
            <a:spLocks xmlns:a="http://schemas.openxmlformats.org/drawingml/2006/main" noGrp="1"/>
          </p:cNvSpPr>
          <p:nvPr/>
        </p:nvSpPr>
        <p:spPr>
          <a:xfrm xmlns:a="http://schemas.openxmlformats.org/drawingml/2006/main">
            <a:off x="5943600" y="26098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Risk assessment</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Severity and confidence</a:t>
            </a:r>
          </a:p>
        </p:txBody>
      </p:sp>
      <p:sp>
        <p:nvSpPr>
          <p:cNvPr id="16" name="">
            <a:extLst xmlns:a="http://schemas.openxmlformats.org/drawingml/2006/main">
              <a:ext uri="{FF2B5EF4-FFF2-40B4-BE49-F238E27FC236}">
                <a16:creationId xmlns:a16="http://schemas.microsoft.com/office/drawing/2014/main" id="{068BBD96-D471-47EB-9FF6-61283FCE3D97}"/>
              </a:ext>
            </a:extLst>
          </p:cNvPr>
          <p:cNvSpPr>
            <a:spLocks xmlns:a="http://schemas.openxmlformats.org/drawingml/2006/main" noGrp="1"/>
          </p:cNvSpPr>
          <p:nvPr/>
        </p:nvSpPr>
        <p:spPr>
          <a:xfrm xmlns:a="http://schemas.openxmlformats.org/drawingml/2006/main">
            <a:off x="3600450" y="32194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Resident guidance</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Localized instructions</a:t>
            </a:r>
          </a:p>
        </p:txBody>
      </p:sp>
      <p:sp>
        <p:nvSpPr>
          <p:cNvPr id="17" name="">
            <a:extLst xmlns:a="http://schemas.openxmlformats.org/drawingml/2006/main">
              <a:ext uri="{FF2B5EF4-FFF2-40B4-BE49-F238E27FC236}">
                <a16:creationId xmlns:a16="http://schemas.microsoft.com/office/drawing/2014/main" id="{B55F4BE4-C400-4482-B195-B9FF9CAE4E9A}"/>
              </a:ext>
            </a:extLst>
          </p:cNvPr>
          <p:cNvSpPr>
            <a:spLocks xmlns:a="http://schemas.openxmlformats.org/drawingml/2006/main" noGrp="1"/>
          </p:cNvSpPr>
          <p:nvPr/>
        </p:nvSpPr>
        <p:spPr>
          <a:xfrm xmlns:a="http://schemas.openxmlformats.org/drawingml/2006/main">
            <a:off x="5943600" y="32194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Vulnerability priority</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Accessibility and transport</a:t>
            </a:r>
          </a:p>
        </p:txBody>
      </p:sp>
      <p:sp>
        <p:nvSpPr>
          <p:cNvPr id="18" name="">
            <a:extLst xmlns:a="http://schemas.openxmlformats.org/drawingml/2006/main">
              <a:ext uri="{FF2B5EF4-FFF2-40B4-BE49-F238E27FC236}">
                <a16:creationId xmlns:a16="http://schemas.microsoft.com/office/drawing/2014/main" id="{024378F4-3437-4DAF-910A-31D8831C15A9}"/>
              </a:ext>
            </a:extLst>
          </p:cNvPr>
          <p:cNvSpPr>
            <a:spLocks xmlns:a="http://schemas.openxmlformats.org/drawingml/2006/main" noGrp="1"/>
          </p:cNvSpPr>
          <p:nvPr/>
        </p:nvSpPr>
        <p:spPr>
          <a:xfrm xmlns:a="http://schemas.openxmlformats.org/drawingml/2006/main">
            <a:off x="3600450" y="38290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Volunteer coordination</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Skills and radius</a:t>
            </a:r>
          </a:p>
        </p:txBody>
      </p:sp>
      <p:sp>
        <p:nvSpPr>
          <p:cNvPr id="19" name="">
            <a:extLst xmlns:a="http://schemas.openxmlformats.org/drawingml/2006/main">
              <a:ext uri="{FF2B5EF4-FFF2-40B4-BE49-F238E27FC236}">
                <a16:creationId xmlns:a16="http://schemas.microsoft.com/office/drawing/2014/main" id="{0AA9E955-DD3D-44A2-B69C-8C448AA4B0C6}"/>
              </a:ext>
            </a:extLst>
          </p:cNvPr>
          <p:cNvSpPr>
            <a:spLocks xmlns:a="http://schemas.openxmlformats.org/drawingml/2006/main" noGrp="1"/>
          </p:cNvSpPr>
          <p:nvPr/>
        </p:nvSpPr>
        <p:spPr>
          <a:xfrm xmlns:a="http://schemas.openxmlformats.org/drawingml/2006/main">
            <a:off x="5943600" y="38290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Aid routing</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Capability and route</a:t>
            </a:r>
          </a:p>
        </p:txBody>
      </p:sp>
      <p:sp>
        <p:nvSpPr>
          <p:cNvPr id="20" name="">
            <a:extLst xmlns:a="http://schemas.openxmlformats.org/drawingml/2006/main">
              <a:ext uri="{FF2B5EF4-FFF2-40B4-BE49-F238E27FC236}">
                <a16:creationId xmlns:a16="http://schemas.microsoft.com/office/drawing/2014/main" id="{22F5E7CB-9BB7-4FB9-8168-45AD7D61CB17}"/>
              </a:ext>
            </a:extLst>
          </p:cNvPr>
          <p:cNvSpPr>
            <a:spLocks xmlns:a="http://schemas.openxmlformats.org/drawingml/2006/main" noGrp="1"/>
          </p:cNvSpPr>
          <p:nvPr/>
        </p:nvSpPr>
        <p:spPr>
          <a:xfrm xmlns:a="http://schemas.openxmlformats.org/drawingml/2006/main">
            <a:off x="3600450" y="4438650"/>
            <a:ext cx="2133600" cy="457200"/>
          </a:xfrm>
          <a:prstGeom xmlns:a="http://schemas.openxmlformats.org/drawingml/2006/main" prst="roundRect">
            <a:avLst>
              <a:gd name="adj" fmla="val 14583"/>
            </a:avLst>
          </a:prstGeom>
          <a:solidFill xmlns:a="http://schemas.openxmlformats.org/drawingml/2006/main">
            <a:srgbClr val="2C323A"/>
          </a:solidFill>
          <a:ln xmlns:a="http://schemas.openxmlformats.org/drawingml/2006/main" w="9525">
            <a:solidFill>
              <a:srgbClr val="4A5059"/>
            </a:solidFill>
          </a:ln>
        </p:spPr>
        <p:txBody>
          <a:bodyPr xmlns:a="http://schemas.openxmlformats.org/drawingml/2006/main" lIns="76200" tIns="76200" rIns="76200" bIns="76200" anchor="t">
            <a:normAutofit fontScale="100000"/>
          </a:bodyPr>
          <a:lstStyle xmlns:a="http://schemas.openxmlformats.org/drawingml/2006/main"/>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Emergency summary</a:t>
            </a:r>
          </a:p>
          <a:p xmlns:a="http://schemas.openxmlformats.org/drawingml/2006/main">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Coordinator briefing</a:t>
            </a:r>
          </a:p>
        </p:txBody>
      </p:sp>
      <p:sp>
        <p:nvSpPr>
          <p:cNvPr id="21" name="">
            <a:extLst xmlns:a="http://schemas.openxmlformats.org/drawingml/2006/main">
              <a:ext uri="{FF2B5EF4-FFF2-40B4-BE49-F238E27FC236}">
                <a16:creationId xmlns:a16="http://schemas.microsoft.com/office/drawing/2014/main" id="{333EC9B1-16EF-4714-9C15-0173643E3C92}"/>
              </a:ext>
            </a:extLst>
          </p:cNvPr>
          <p:cNvSpPr>
            <a:spLocks xmlns:a="http://schemas.openxmlformats.org/drawingml/2006/main" noGrp="1"/>
          </p:cNvSpPr>
          <p:nvPr/>
        </p:nvSpPr>
        <p:spPr>
          <a:xfrm xmlns:a="http://schemas.openxmlformats.org/drawingml/2006/main">
            <a:off x="8553450" y="331470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C65D3B"/>
                </a:solidFill>
                <a:latin typeface="Avenir Next"/>
                <a:ea typeface="Avenir Next"/>
                <a:cs typeface="Avenir Next"/>
              </a:defRPr>
            </a:pPr>
            <a:r>
              <a:rPr sz="1725" b="1">
                <a:solidFill>
                  <a:srgbClr val="C65D3B"/>
                </a:solidFill>
                <a:latin typeface="Avenir Next"/>
                <a:ea typeface="Avenir Next"/>
                <a:cs typeface="Avenir Next"/>
              </a:rPr>
              <a:t>→</a:t>
            </a:r>
          </a:p>
        </p:txBody>
      </p:sp>
      <p:sp>
        <p:nvSpPr>
          <p:cNvPr id="22" name="">
            <a:extLst xmlns:a="http://schemas.openxmlformats.org/drawingml/2006/main">
              <a:ext uri="{FF2B5EF4-FFF2-40B4-BE49-F238E27FC236}">
                <a16:creationId xmlns:a16="http://schemas.microsoft.com/office/drawing/2014/main" id="{AD2D8D16-6B5D-409B-8B9C-E35C21CF0151}"/>
              </a:ext>
            </a:extLst>
          </p:cNvPr>
          <p:cNvSpPr>
            <a:spLocks xmlns:a="http://schemas.openxmlformats.org/drawingml/2006/main" noGrp="1"/>
          </p:cNvSpPr>
          <p:nvPr/>
        </p:nvSpPr>
        <p:spPr>
          <a:xfrm xmlns:a="http://schemas.openxmlformats.org/drawingml/2006/main">
            <a:off x="9029700" y="1981200"/>
            <a:ext cx="2609850"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14300" tIns="114300" rIns="114300" bIns="114300" anchor="t">
            <a:normAutofit fontScale="10000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PRIORITY</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Verified incident queue</a:t>
            </a:r>
          </a:p>
        </p:txBody>
      </p:sp>
      <p:sp>
        <p:nvSpPr>
          <p:cNvPr id="23" name="">
            <a:extLst xmlns:a="http://schemas.openxmlformats.org/drawingml/2006/main">
              <a:ext uri="{FF2B5EF4-FFF2-40B4-BE49-F238E27FC236}">
                <a16:creationId xmlns:a16="http://schemas.microsoft.com/office/drawing/2014/main" id="{F06C4380-8ECE-40AA-B301-5F4DB5FD615B}"/>
              </a:ext>
            </a:extLst>
          </p:cNvPr>
          <p:cNvSpPr>
            <a:spLocks xmlns:a="http://schemas.openxmlformats.org/drawingml/2006/main" noGrp="1"/>
          </p:cNvSpPr>
          <p:nvPr/>
        </p:nvSpPr>
        <p:spPr>
          <a:xfrm xmlns:a="http://schemas.openxmlformats.org/drawingml/2006/main">
            <a:off x="9029700" y="2819400"/>
            <a:ext cx="2609850"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14300" tIns="114300" rIns="114300" bIns="114300" anchor="t">
            <a:normAutofit fontScale="10000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PLAN</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Matched resources and routes</a:t>
            </a:r>
          </a:p>
        </p:txBody>
      </p:sp>
      <p:sp>
        <p:nvSpPr>
          <p:cNvPr id="24" name="">
            <a:extLst xmlns:a="http://schemas.openxmlformats.org/drawingml/2006/main">
              <a:ext uri="{FF2B5EF4-FFF2-40B4-BE49-F238E27FC236}">
                <a16:creationId xmlns:a16="http://schemas.microsoft.com/office/drawing/2014/main" id="{9E339473-A1BB-45E6-8F2C-96834747118D}"/>
              </a:ext>
            </a:extLst>
          </p:cNvPr>
          <p:cNvSpPr>
            <a:spLocks xmlns:a="http://schemas.openxmlformats.org/drawingml/2006/main" noGrp="1"/>
          </p:cNvSpPr>
          <p:nvPr/>
        </p:nvSpPr>
        <p:spPr>
          <a:xfrm xmlns:a="http://schemas.openxmlformats.org/drawingml/2006/main">
            <a:off x="9029700" y="3657600"/>
            <a:ext cx="2609850"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9525">
            <a:solidFill>
              <a:srgbClr val="E4E5E2"/>
            </a:solidFill>
          </a:ln>
        </p:spPr>
        <p:txBody>
          <a:bodyPr xmlns:a="http://schemas.openxmlformats.org/drawingml/2006/main" lIns="114300" tIns="114300" rIns="114300" bIns="114300" anchor="t">
            <a:normAutofit fontScale="10000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COMMUNICATION</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Bilingual public guidance</a:t>
            </a:r>
          </a:p>
        </p:txBody>
      </p:sp>
      <p:sp>
        <p:nvSpPr>
          <p:cNvPr id="25" name="">
            <a:extLst xmlns:a="http://schemas.openxmlformats.org/drawingml/2006/main">
              <a:ext uri="{FF2B5EF4-FFF2-40B4-BE49-F238E27FC236}">
                <a16:creationId xmlns:a16="http://schemas.microsoft.com/office/drawing/2014/main" id="{A24061B9-211D-4675-8620-5270FC627C10}"/>
              </a:ext>
            </a:extLst>
          </p:cNvPr>
          <p:cNvSpPr>
            <a:spLocks xmlns:a="http://schemas.openxmlformats.org/drawingml/2006/main" noGrp="1"/>
          </p:cNvSpPr>
          <p:nvPr/>
        </p:nvSpPr>
        <p:spPr>
          <a:xfrm xmlns:a="http://schemas.openxmlformats.org/drawingml/2006/main">
            <a:off x="9029700" y="4495800"/>
            <a:ext cx="2609850" cy="609600"/>
          </a:xfrm>
          <a:prstGeom xmlns:a="http://schemas.openxmlformats.org/drawingml/2006/main" prst="roundRect">
            <a:avLst>
              <a:gd name="adj" fmla="val 15625"/>
            </a:avLst>
          </a:prstGeom>
          <a:solidFill xmlns:a="http://schemas.openxmlformats.org/drawingml/2006/main">
            <a:srgbClr val="F4DDD5"/>
          </a:solidFill>
          <a:ln xmlns:a="http://schemas.openxmlformats.org/drawingml/2006/main" w="9525">
            <a:solidFill>
              <a:srgbClr val="E4E5E2"/>
            </a:solidFill>
          </a:ln>
        </p:spPr>
        <p:txBody>
          <a:bodyPr xmlns:a="http://schemas.openxmlformats.org/drawingml/2006/main" lIns="114300" tIns="114300" rIns="114300" bIns="114300" anchor="t">
            <a:normAutofit fontScale="100000"/>
          </a:bodyPr>
          <a:lstStyle xmlns:a="http://schemas.openxmlformats.org/drawingml/2006/main"/>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AUDIT</a:t>
            </a:r>
          </a:p>
          <a:p xmlns:a="http://schemas.openxmlformats.org/drawingml/2006/main">
            <a:pPr algn="l">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Recommendations and approvals</a:t>
            </a:r>
          </a:p>
        </p:txBody>
      </p:sp>
      <p:sp>
        <p:nvSpPr>
          <p:cNvPr id="26" name="">
            <a:extLst xmlns:a="http://schemas.openxmlformats.org/drawingml/2006/main">
              <a:ext uri="{FF2B5EF4-FFF2-40B4-BE49-F238E27FC236}">
                <a16:creationId xmlns:a16="http://schemas.microsoft.com/office/drawing/2014/main" id="{5066DC54-0682-4A81-A4D4-4C3524D23501}"/>
              </a:ext>
            </a:extLst>
          </p:cNvPr>
          <p:cNvSpPr>
            <a:spLocks xmlns:a="http://schemas.openxmlformats.org/drawingml/2006/main" noGrp="1"/>
          </p:cNvSpPr>
          <p:nvPr/>
        </p:nvSpPr>
        <p:spPr>
          <a:xfrm xmlns:a="http://schemas.openxmlformats.org/drawingml/2006/main">
            <a:off x="9029700" y="5467350"/>
            <a:ext cx="2609850" cy="400050"/>
          </a:xfrm>
          <a:prstGeom xmlns:a="http://schemas.openxmlformats.org/drawingml/2006/main" prst="roundRect">
            <a:avLst>
              <a:gd name="adj" fmla="val 23810"/>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57150" tIns="57150" rIns="57150" bIns="57150" anchor="ctr">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HUMAN AUTHORIZATION</a:t>
            </a:r>
          </a:p>
        </p:txBody>
      </p:sp>
      <p:sp>
        <p:nvSpPr>
          <p:cNvPr id="27" name="">
            <a:extLst xmlns:a="http://schemas.openxmlformats.org/drawingml/2006/main">
              <a:ext uri="{FF2B5EF4-FFF2-40B4-BE49-F238E27FC236}">
                <a16:creationId xmlns:a16="http://schemas.microsoft.com/office/drawing/2014/main" id="{4A827FE4-87D0-4230-A3DD-56A2369A18F0}"/>
              </a:ext>
            </a:extLst>
          </p:cNvPr>
          <p:cNvSpPr>
            <a:spLocks xmlns:a="http://schemas.openxmlformats.org/drawingml/2006/main" noGrp="1"/>
          </p:cNvSpPr>
          <p:nvPr/>
        </p:nvSpPr>
        <p:spPr>
          <a:xfrm xmlns:a="http://schemas.openxmlformats.org/drawingml/2006/main">
            <a:off x="3333750" y="5524500"/>
            <a:ext cx="5105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526075"/>
                </a:solidFill>
                <a:latin typeface="Avenir Next"/>
                <a:ea typeface="Avenir Next"/>
                <a:cs typeface="Avenir Next"/>
              </a:defRPr>
            </a:pPr>
            <a:r>
              <a:rPr sz="825" b="1">
                <a:solidFill>
                  <a:srgbClr val="526075"/>
                </a:solidFill>
                <a:latin typeface="Avenir Next"/>
                <a:ea typeface="Avenir Next"/>
                <a:cs typeface="Avenir Next"/>
              </a:rPr>
              <a:t>Nominatim  •  Open-Meteo  •  Overpass  •  OSRM  •  Gemini or rules fallback</a:t>
            </a:r>
          </a:p>
        </p:txBody>
      </p:sp>
      <p:sp>
        <p:nvSpPr>
          <p:cNvPr id="28" name="">
            <a:extLst xmlns:a="http://schemas.openxmlformats.org/drawingml/2006/main">
              <a:ext uri="{FF2B5EF4-FFF2-40B4-BE49-F238E27FC236}">
                <a16:creationId xmlns:a16="http://schemas.microsoft.com/office/drawing/2014/main" id="{F7B21E07-BDA5-47C8-BED8-6E2A18379FD1}"/>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Implemented architecture and specialized agent workflow</a:t>
            </a:r>
          </a:p>
        </p:txBody>
      </p:sp>
    </p:spTree>
    <p:extLst>
      <p:ext uri="{BB962C8B-B14F-4D97-AF65-F5344CB8AC3E}">
        <p14:creationId xmlns:p14="http://schemas.microsoft.com/office/powerpoint/2010/main" val="1810132639"/>
      </p:ext>
    </p:extLst>
  </p:cSld>
</p:sld>
</file>

<file path=ppt/slides/slide6.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6806F5-CFAA-4E3B-87EF-3D71F976783B}"/>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DECISION QUALITY</a:t>
            </a:r>
          </a:p>
        </p:txBody>
      </p:sp>
      <p:sp>
        <p:nvSpPr>
          <p:cNvPr id="2" name="">
            <a:extLst xmlns:a="http://schemas.openxmlformats.org/drawingml/2006/main">
              <a:ext uri="{FF2B5EF4-FFF2-40B4-BE49-F238E27FC236}">
                <a16:creationId xmlns:a16="http://schemas.microsoft.com/office/drawing/2014/main" id="{2426E2D0-A4F0-495E-984D-0373267B667F}"/>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Confidence and severity remain separate throughout the decision.</a:t>
            </a:r>
          </a:p>
        </p:txBody>
      </p:sp>
      <p:sp>
        <p:nvSpPr>
          <p:cNvPr id="3" name="">
            <a:extLst xmlns:a="http://schemas.openxmlformats.org/drawingml/2006/main">
              <a:ext uri="{FF2B5EF4-FFF2-40B4-BE49-F238E27FC236}">
                <a16:creationId xmlns:a16="http://schemas.microsoft.com/office/drawing/2014/main" id="{F81DAE2E-98DA-465A-A0E0-6B34A471B574}"/>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C92C25A0-A946-4D15-AFEC-313313A4074A}"/>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9B96E489-66E6-4B96-B8DE-30DE1AF40977}"/>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06</a:t>
            </a:r>
          </a:p>
        </p:txBody>
      </p:sp>
      <p:sp>
        <p:nvSpPr>
          <p:cNvPr id="6" name="">
            <a:extLst xmlns:a="http://schemas.openxmlformats.org/drawingml/2006/main">
              <a:ext uri="{FF2B5EF4-FFF2-40B4-BE49-F238E27FC236}">
                <a16:creationId xmlns:a16="http://schemas.microsoft.com/office/drawing/2014/main" id="{24B91F57-51AB-4686-849B-A3FFB147D4A4}"/>
              </a:ext>
            </a:extLst>
          </p:cNvPr>
          <p:cNvSpPr>
            <a:spLocks xmlns:a="http://schemas.openxmlformats.org/drawingml/2006/main" noGrp="1"/>
          </p:cNvSpPr>
          <p:nvPr/>
        </p:nvSpPr>
        <p:spPr>
          <a:xfrm xmlns:a="http://schemas.openxmlformats.org/drawingml/2006/main">
            <a:off x="1066800" y="533400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526075"/>
                </a:solidFill>
                <a:latin typeface="Avenir Next"/>
                <a:ea typeface="Avenir Next"/>
                <a:cs typeface="Avenir Next"/>
              </a:defRPr>
            </a:pPr>
            <a:r>
              <a:rPr sz="900" b="1">
                <a:solidFill>
                  <a:srgbClr val="526075"/>
                </a:solidFill>
                <a:latin typeface="Avenir Next"/>
                <a:ea typeface="Avenir Next"/>
                <a:cs typeface="Avenir Next"/>
              </a:rPr>
              <a:t>EVIDENCE CONFIDENCE →</a:t>
            </a:r>
          </a:p>
        </p:txBody>
      </p:sp>
      <p:sp>
        <p:nvSpPr>
          <p:cNvPr id="7" name="">
            <a:extLst xmlns:a="http://schemas.openxmlformats.org/drawingml/2006/main">
              <a:ext uri="{FF2B5EF4-FFF2-40B4-BE49-F238E27FC236}">
                <a16:creationId xmlns:a16="http://schemas.microsoft.com/office/drawing/2014/main" id="{3C42F2F7-D686-4A02-964D-4B2D8CE99956}"/>
              </a:ext>
            </a:extLst>
          </p:cNvPr>
          <p:cNvSpPr>
            <a:spLocks xmlns:a="http://schemas.openxmlformats.org/drawingml/2006/main" noGrp="1"/>
          </p:cNvSpPr>
          <p:nvPr/>
        </p:nvSpPr>
        <p:spPr>
          <a:xfrm xmlns:a="http://schemas.openxmlformats.org/drawingml/2006/main">
            <a:off x="952500" y="1828800"/>
            <a:ext cx="501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526075"/>
                </a:solidFill>
                <a:latin typeface="Avenir Next"/>
                <a:ea typeface="Avenir Next"/>
                <a:cs typeface="Avenir Next"/>
              </a:defRPr>
            </a:pPr>
            <a:r>
              <a:rPr sz="900" b="1">
                <a:solidFill>
                  <a:srgbClr val="526075"/>
                </a:solidFill>
                <a:latin typeface="Avenir Next"/>
                <a:ea typeface="Avenir Next"/>
                <a:cs typeface="Avenir Next"/>
              </a:rPr>
              <a:t>SEVERITY ↑</a:t>
            </a:r>
          </a:p>
        </p:txBody>
      </p:sp>
      <p:sp>
        <p:nvSpPr>
          <p:cNvPr id="8" name="">
            <a:extLst xmlns:a="http://schemas.openxmlformats.org/drawingml/2006/main">
              <a:ext uri="{FF2B5EF4-FFF2-40B4-BE49-F238E27FC236}">
                <a16:creationId xmlns:a16="http://schemas.microsoft.com/office/drawing/2014/main" id="{E74243C3-B7D7-4943-99B1-B8E3310C9F72}"/>
              </a:ext>
            </a:extLst>
          </p:cNvPr>
          <p:cNvSpPr>
            <a:spLocks xmlns:a="http://schemas.openxmlformats.org/drawingml/2006/main" noGrp="1"/>
          </p:cNvSpPr>
          <p:nvPr/>
        </p:nvSpPr>
        <p:spPr>
          <a:xfrm xmlns:a="http://schemas.openxmlformats.org/drawingml/2006/main">
            <a:off x="952500" y="2095500"/>
            <a:ext cx="2400300" cy="1428750"/>
          </a:xfrm>
          <a:prstGeom xmlns:a="http://schemas.openxmlformats.org/drawingml/2006/main" prst="roundRect">
            <a:avLst>
              <a:gd name="adj" fmla="val 6667"/>
            </a:avLst>
          </a:prstGeom>
          <a:solidFill xmlns:a="http://schemas.openxmlformats.org/drawingml/2006/main">
            <a:srgbClr val="EEF0ED"/>
          </a:solidFill>
          <a:ln xmlns:a="http://schemas.openxmlformats.org/drawingml/2006/main" w="28575">
            <a:solidFill>
              <a:srgbClr val="FFFFFF"/>
            </a:solidFill>
          </a:ln>
        </p:spPr>
        <p:txBody>
          <a:bodyPr xmlns:a="http://schemas.openxmlformats.org/drawingml/2006/main" lIns="171450" tIns="171450" rIns="171450" bIns="171450" anchor="ctr">
            <a:normAutofit fontScale="100000"/>
          </a:bodyPr>
          <a:lstStyle xmlns:a="http://schemas.openxmlformats.org/drawingml/2006/main"/>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Monitor</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Low severity</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Low confidence</a:t>
            </a:r>
          </a:p>
        </p:txBody>
      </p:sp>
      <p:sp>
        <p:nvSpPr>
          <p:cNvPr id="9" name="">
            <a:extLst xmlns:a="http://schemas.openxmlformats.org/drawingml/2006/main">
              <a:ext uri="{FF2B5EF4-FFF2-40B4-BE49-F238E27FC236}">
                <a16:creationId xmlns:a16="http://schemas.microsoft.com/office/drawing/2014/main" id="{301C5E39-BBED-44D5-97E1-ED2BC6E4D4B7}"/>
              </a:ext>
            </a:extLst>
          </p:cNvPr>
          <p:cNvSpPr>
            <a:spLocks xmlns:a="http://schemas.openxmlformats.org/drawingml/2006/main" noGrp="1"/>
          </p:cNvSpPr>
          <p:nvPr/>
        </p:nvSpPr>
        <p:spPr>
          <a:xfrm xmlns:a="http://schemas.openxmlformats.org/drawingml/2006/main">
            <a:off x="3562350" y="2095500"/>
            <a:ext cx="2400300" cy="1428750"/>
          </a:xfrm>
          <a:prstGeom xmlns:a="http://schemas.openxmlformats.org/drawingml/2006/main" prst="roundRect">
            <a:avLst>
              <a:gd name="adj" fmla="val 6667"/>
            </a:avLst>
          </a:prstGeom>
          <a:solidFill xmlns:a="http://schemas.openxmlformats.org/drawingml/2006/main">
            <a:srgbClr val="E9E3D9"/>
          </a:solidFill>
          <a:ln xmlns:a="http://schemas.openxmlformats.org/drawingml/2006/main" w="28575">
            <a:solidFill>
              <a:srgbClr val="FFFFFF"/>
            </a:solidFill>
          </a:ln>
        </p:spPr>
        <p:txBody>
          <a:bodyPr xmlns:a="http://schemas.openxmlformats.org/drawingml/2006/main" lIns="171450" tIns="171450" rIns="171450" bIns="171450" anchor="ctr">
            <a:normAutofit fontScale="100000"/>
          </a:bodyPr>
          <a:lstStyle xmlns:a="http://schemas.openxmlformats.org/drawingml/2006/main"/>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Prepare</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Low severity</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High confidence</a:t>
            </a:r>
          </a:p>
        </p:txBody>
      </p:sp>
      <p:sp>
        <p:nvSpPr>
          <p:cNvPr id="10" name="">
            <a:extLst xmlns:a="http://schemas.openxmlformats.org/drawingml/2006/main">
              <a:ext uri="{FF2B5EF4-FFF2-40B4-BE49-F238E27FC236}">
                <a16:creationId xmlns:a16="http://schemas.microsoft.com/office/drawing/2014/main" id="{CCCC31B4-87FE-43E3-B2AB-C7CA6306F47B}"/>
              </a:ext>
            </a:extLst>
          </p:cNvPr>
          <p:cNvSpPr>
            <a:spLocks xmlns:a="http://schemas.openxmlformats.org/drawingml/2006/main" noGrp="1"/>
          </p:cNvSpPr>
          <p:nvPr/>
        </p:nvSpPr>
        <p:spPr>
          <a:xfrm xmlns:a="http://schemas.openxmlformats.org/drawingml/2006/main">
            <a:off x="952500" y="3714750"/>
            <a:ext cx="2400300" cy="1428750"/>
          </a:xfrm>
          <a:prstGeom xmlns:a="http://schemas.openxmlformats.org/drawingml/2006/main" prst="roundRect">
            <a:avLst>
              <a:gd name="adj" fmla="val 6667"/>
            </a:avLst>
          </a:prstGeom>
          <a:solidFill xmlns:a="http://schemas.openxmlformats.org/drawingml/2006/main">
            <a:srgbClr val="F4DDD5"/>
          </a:solidFill>
          <a:ln xmlns:a="http://schemas.openxmlformats.org/drawingml/2006/main" w="28575">
            <a:solidFill>
              <a:srgbClr val="FFFFFF"/>
            </a:solidFill>
          </a:ln>
        </p:spPr>
        <p:txBody>
          <a:bodyPr xmlns:a="http://schemas.openxmlformats.org/drawingml/2006/main" lIns="171450" tIns="171450" rIns="171450" bIns="171450" anchor="ctr">
            <a:normAutofit fontScale="100000"/>
          </a:bodyPr>
          <a:lstStyle xmlns:a="http://schemas.openxmlformats.org/drawingml/2006/main"/>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Verify fast</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High severity</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Low confidence</a:t>
            </a:r>
          </a:p>
        </p:txBody>
      </p:sp>
      <p:sp>
        <p:nvSpPr>
          <p:cNvPr id="11" name="">
            <a:extLst xmlns:a="http://schemas.openxmlformats.org/drawingml/2006/main">
              <a:ext uri="{FF2B5EF4-FFF2-40B4-BE49-F238E27FC236}">
                <a16:creationId xmlns:a16="http://schemas.microsoft.com/office/drawing/2014/main" id="{CC14CEC8-2B42-45A5-B83F-5071519D2262}"/>
              </a:ext>
            </a:extLst>
          </p:cNvPr>
          <p:cNvSpPr>
            <a:spLocks xmlns:a="http://schemas.openxmlformats.org/drawingml/2006/main" noGrp="1"/>
          </p:cNvSpPr>
          <p:nvPr/>
        </p:nvSpPr>
        <p:spPr>
          <a:xfrm xmlns:a="http://schemas.openxmlformats.org/drawingml/2006/main">
            <a:off x="3562350" y="3714750"/>
            <a:ext cx="2400300" cy="1428750"/>
          </a:xfrm>
          <a:prstGeom xmlns:a="http://schemas.openxmlformats.org/drawingml/2006/main" prst="roundRect">
            <a:avLst>
              <a:gd name="adj" fmla="val 6667"/>
            </a:avLst>
          </a:prstGeom>
          <a:solidFill xmlns:a="http://schemas.openxmlformats.org/drawingml/2006/main">
            <a:srgbClr val="E8D3C2"/>
          </a:solidFill>
          <a:ln xmlns:a="http://schemas.openxmlformats.org/drawingml/2006/main" w="28575">
            <a:solidFill>
              <a:srgbClr val="FFFFFF"/>
            </a:solidFill>
          </a:ln>
        </p:spPr>
        <p:txBody>
          <a:bodyPr xmlns:a="http://schemas.openxmlformats.org/drawingml/2006/main" lIns="171450" tIns="171450" rIns="171450" bIns="171450" anchor="ctr">
            <a:normAutofit fontScale="100000"/>
          </a:bodyPr>
          <a:lstStyle xmlns:a="http://schemas.openxmlformats.org/drawingml/2006/main"/>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Escalate</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High severity</a:t>
            </a:r>
          </a:p>
          <a:p xmlns:a="http://schemas.openxmlformats.org/drawingml/2006/main">
            <a:pPr algn="ctr">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High confidence</a:t>
            </a:r>
          </a:p>
        </p:txBody>
      </p:sp>
      <p:sp>
        <p:nvSpPr>
          <p:cNvPr id="12" name="">
            <a:extLst xmlns:a="http://schemas.openxmlformats.org/drawingml/2006/main">
              <a:ext uri="{FF2B5EF4-FFF2-40B4-BE49-F238E27FC236}">
                <a16:creationId xmlns:a16="http://schemas.microsoft.com/office/drawing/2014/main" id="{387C94A2-23C3-4139-B49E-FED3EB4600DA}"/>
              </a:ext>
            </a:extLst>
          </p:cNvPr>
          <p:cNvSpPr>
            <a:spLocks xmlns:a="http://schemas.openxmlformats.org/drawingml/2006/main" noGrp="1"/>
          </p:cNvSpPr>
          <p:nvPr/>
        </p:nvSpPr>
        <p:spPr>
          <a:xfrm xmlns:a="http://schemas.openxmlformats.org/drawingml/2006/main">
            <a:off x="6591300" y="2000250"/>
            <a:ext cx="9525" cy="3448050"/>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3" name="">
            <a:extLst xmlns:a="http://schemas.openxmlformats.org/drawingml/2006/main">
              <a:ext uri="{FF2B5EF4-FFF2-40B4-BE49-F238E27FC236}">
                <a16:creationId xmlns:a16="http://schemas.microsoft.com/office/drawing/2014/main" id="{A60A2D21-F4B1-41BB-86F3-47A7B60F5E02}"/>
              </a:ext>
            </a:extLst>
          </p:cNvPr>
          <p:cNvSpPr>
            <a:spLocks xmlns:a="http://schemas.openxmlformats.org/drawingml/2006/main" noGrp="1"/>
          </p:cNvSpPr>
          <p:nvPr/>
        </p:nvSpPr>
        <p:spPr>
          <a:xfrm xmlns:a="http://schemas.openxmlformats.org/drawingml/2006/main">
            <a:off x="7029450" y="2095500"/>
            <a:ext cx="409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WHAT THE SYSTEM DOES</a:t>
            </a:r>
          </a:p>
        </p:txBody>
      </p:sp>
      <p:sp>
        <p:nvSpPr>
          <p:cNvPr id="14" name="">
            <a:extLst xmlns:a="http://schemas.openxmlformats.org/drawingml/2006/main">
              <a:ext uri="{FF2B5EF4-FFF2-40B4-BE49-F238E27FC236}">
                <a16:creationId xmlns:a16="http://schemas.microsoft.com/office/drawing/2014/main" id="{890A6C01-39FA-49FB-AAD7-AD8AA71BDDD9}"/>
              </a:ext>
            </a:extLst>
          </p:cNvPr>
          <p:cNvSpPr>
            <a:spLocks xmlns:a="http://schemas.openxmlformats.org/drawingml/2006/main" noGrp="1"/>
          </p:cNvSpPr>
          <p:nvPr/>
        </p:nvSpPr>
        <p:spPr>
          <a:xfrm xmlns:a="http://schemas.openxmlformats.org/drawingml/2006/main">
            <a:off x="7029450" y="24955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1</a:t>
            </a:r>
          </a:p>
        </p:txBody>
      </p:sp>
      <p:sp>
        <p:nvSpPr>
          <p:cNvPr id="15" name="">
            <a:extLst xmlns:a="http://schemas.openxmlformats.org/drawingml/2006/main">
              <a:ext uri="{FF2B5EF4-FFF2-40B4-BE49-F238E27FC236}">
                <a16:creationId xmlns:a16="http://schemas.microsoft.com/office/drawing/2014/main" id="{1A45139B-9FF1-4FCB-86BC-E1D1581FEFA7}"/>
              </a:ext>
            </a:extLst>
          </p:cNvPr>
          <p:cNvSpPr>
            <a:spLocks xmlns:a="http://schemas.openxmlformats.org/drawingml/2006/main" noGrp="1"/>
          </p:cNvSpPr>
          <p:nvPr/>
        </p:nvSpPr>
        <p:spPr>
          <a:xfrm xmlns:a="http://schemas.openxmlformats.org/drawingml/2006/main">
            <a:off x="7486650" y="2476500"/>
            <a:ext cx="3638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Corroborates</a:t>
            </a:r>
          </a:p>
        </p:txBody>
      </p:sp>
      <p:sp>
        <p:nvSpPr>
          <p:cNvPr id="16" name="">
            <a:extLst xmlns:a="http://schemas.openxmlformats.org/drawingml/2006/main">
              <a:ext uri="{FF2B5EF4-FFF2-40B4-BE49-F238E27FC236}">
                <a16:creationId xmlns:a16="http://schemas.microsoft.com/office/drawing/2014/main" id="{A952F115-D00C-4E51-A7CE-7D795B00F9F6}"/>
              </a:ext>
            </a:extLst>
          </p:cNvPr>
          <p:cNvSpPr>
            <a:spLocks xmlns:a="http://schemas.openxmlformats.org/drawingml/2006/main" noGrp="1"/>
          </p:cNvSpPr>
          <p:nvPr/>
        </p:nvSpPr>
        <p:spPr>
          <a:xfrm xmlns:a="http://schemas.openxmlformats.org/drawingml/2006/main">
            <a:off x="7486650" y="2771775"/>
            <a:ext cx="36385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075"/>
                </a:solidFill>
                <a:latin typeface="Avenir Next"/>
                <a:ea typeface="Avenir Next"/>
                <a:cs typeface="Avenir Next"/>
              </a:defRPr>
            </a:pPr>
            <a:r>
              <a:rPr sz="1125" b="0">
                <a:solidFill>
                  <a:srgbClr val="526075"/>
                </a:solidFill>
                <a:latin typeface="Avenir Next"/>
                <a:ea typeface="Avenir Next"/>
                <a:cs typeface="Avenir Next"/>
              </a:rPr>
              <a:t>Groups matching reports without turning repetition into certainty.</a:t>
            </a:r>
          </a:p>
        </p:txBody>
      </p:sp>
      <p:sp>
        <p:nvSpPr>
          <p:cNvPr id="17" name="">
            <a:extLst xmlns:a="http://schemas.openxmlformats.org/drawingml/2006/main">
              <a:ext uri="{FF2B5EF4-FFF2-40B4-BE49-F238E27FC236}">
                <a16:creationId xmlns:a16="http://schemas.microsoft.com/office/drawing/2014/main" id="{A5EEFF37-FB6C-4BED-AA9D-3CEDA323FF1F}"/>
              </a:ext>
            </a:extLst>
          </p:cNvPr>
          <p:cNvSpPr>
            <a:spLocks xmlns:a="http://schemas.openxmlformats.org/drawingml/2006/main" noGrp="1"/>
          </p:cNvSpPr>
          <p:nvPr/>
        </p:nvSpPr>
        <p:spPr>
          <a:xfrm xmlns:a="http://schemas.openxmlformats.org/drawingml/2006/main">
            <a:off x="7029450" y="34861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2</a:t>
            </a:r>
          </a:p>
        </p:txBody>
      </p:sp>
      <p:sp>
        <p:nvSpPr>
          <p:cNvPr id="18" name="">
            <a:extLst xmlns:a="http://schemas.openxmlformats.org/drawingml/2006/main">
              <a:ext uri="{FF2B5EF4-FFF2-40B4-BE49-F238E27FC236}">
                <a16:creationId xmlns:a16="http://schemas.microsoft.com/office/drawing/2014/main" id="{AA1A64D2-2895-4C60-8CD6-A21EC46CBA44}"/>
              </a:ext>
            </a:extLst>
          </p:cNvPr>
          <p:cNvSpPr>
            <a:spLocks xmlns:a="http://schemas.openxmlformats.org/drawingml/2006/main" noGrp="1"/>
          </p:cNvSpPr>
          <p:nvPr/>
        </p:nvSpPr>
        <p:spPr>
          <a:xfrm xmlns:a="http://schemas.openxmlformats.org/drawingml/2006/main">
            <a:off x="7486650" y="3467100"/>
            <a:ext cx="3638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Preserves uncertainty</a:t>
            </a:r>
          </a:p>
        </p:txBody>
      </p:sp>
      <p:sp>
        <p:nvSpPr>
          <p:cNvPr id="19" name="">
            <a:extLst xmlns:a="http://schemas.openxmlformats.org/drawingml/2006/main">
              <a:ext uri="{FF2B5EF4-FFF2-40B4-BE49-F238E27FC236}">
                <a16:creationId xmlns:a16="http://schemas.microsoft.com/office/drawing/2014/main" id="{5214D2B5-EE2D-460D-842B-E3E396BE0431}"/>
              </a:ext>
            </a:extLst>
          </p:cNvPr>
          <p:cNvSpPr>
            <a:spLocks xmlns:a="http://schemas.openxmlformats.org/drawingml/2006/main" noGrp="1"/>
          </p:cNvSpPr>
          <p:nvPr/>
        </p:nvSpPr>
        <p:spPr>
          <a:xfrm xmlns:a="http://schemas.openxmlformats.org/drawingml/2006/main">
            <a:off x="7486650" y="3762375"/>
            <a:ext cx="36385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075"/>
                </a:solidFill>
                <a:latin typeface="Avenir Next"/>
                <a:ea typeface="Avenir Next"/>
                <a:cs typeface="Avenir Next"/>
              </a:defRPr>
            </a:pPr>
            <a:r>
              <a:rPr sz="1125" b="0">
                <a:solidFill>
                  <a:srgbClr val="526075"/>
                </a:solidFill>
                <a:latin typeface="Avenir Next"/>
                <a:ea typeface="Avenir Next"/>
                <a:cs typeface="Avenir Next"/>
              </a:rPr>
              <a:t>Unique or unsupported claims stay visibly unverified.</a:t>
            </a:r>
          </a:p>
        </p:txBody>
      </p:sp>
      <p:sp>
        <p:nvSpPr>
          <p:cNvPr id="20" name="">
            <a:extLst xmlns:a="http://schemas.openxmlformats.org/drawingml/2006/main">
              <a:ext uri="{FF2B5EF4-FFF2-40B4-BE49-F238E27FC236}">
                <a16:creationId xmlns:a16="http://schemas.microsoft.com/office/drawing/2014/main" id="{8CAC7FB2-A82D-471D-A881-A4156494948C}"/>
              </a:ext>
            </a:extLst>
          </p:cNvPr>
          <p:cNvSpPr>
            <a:spLocks xmlns:a="http://schemas.openxmlformats.org/drawingml/2006/main" noGrp="1"/>
          </p:cNvSpPr>
          <p:nvPr/>
        </p:nvSpPr>
        <p:spPr>
          <a:xfrm xmlns:a="http://schemas.openxmlformats.org/drawingml/2006/main">
            <a:off x="7029450" y="44767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3</a:t>
            </a:r>
          </a:p>
        </p:txBody>
      </p:sp>
      <p:sp>
        <p:nvSpPr>
          <p:cNvPr id="21" name="">
            <a:extLst xmlns:a="http://schemas.openxmlformats.org/drawingml/2006/main">
              <a:ext uri="{FF2B5EF4-FFF2-40B4-BE49-F238E27FC236}">
                <a16:creationId xmlns:a16="http://schemas.microsoft.com/office/drawing/2014/main" id="{40652F15-3877-4A06-97F6-572849ED8B5D}"/>
              </a:ext>
            </a:extLst>
          </p:cNvPr>
          <p:cNvSpPr>
            <a:spLocks xmlns:a="http://schemas.openxmlformats.org/drawingml/2006/main" noGrp="1"/>
          </p:cNvSpPr>
          <p:nvPr/>
        </p:nvSpPr>
        <p:spPr>
          <a:xfrm xmlns:a="http://schemas.openxmlformats.org/drawingml/2006/main">
            <a:off x="7486650" y="4457700"/>
            <a:ext cx="36385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21722"/>
                </a:solidFill>
                <a:latin typeface="Avenir Next"/>
                <a:ea typeface="Avenir Next"/>
                <a:cs typeface="Avenir Next"/>
              </a:defRPr>
            </a:pPr>
            <a:r>
              <a:rPr sz="1425" b="1">
                <a:solidFill>
                  <a:srgbClr val="121722"/>
                </a:solidFill>
                <a:latin typeface="Avenir Next"/>
                <a:ea typeface="Avenir Next"/>
                <a:cs typeface="Avenir Next"/>
              </a:rPr>
              <a:t>Escalates vulnerability</a:t>
            </a:r>
          </a:p>
        </p:txBody>
      </p:sp>
      <p:sp>
        <p:nvSpPr>
          <p:cNvPr id="22" name="">
            <a:extLst xmlns:a="http://schemas.openxmlformats.org/drawingml/2006/main">
              <a:ext uri="{FF2B5EF4-FFF2-40B4-BE49-F238E27FC236}">
                <a16:creationId xmlns:a16="http://schemas.microsoft.com/office/drawing/2014/main" id="{60587B63-4B43-4893-9AA0-013B2D68D67C}"/>
              </a:ext>
            </a:extLst>
          </p:cNvPr>
          <p:cNvSpPr>
            <a:spLocks xmlns:a="http://schemas.openxmlformats.org/drawingml/2006/main" noGrp="1"/>
          </p:cNvSpPr>
          <p:nvPr/>
        </p:nvSpPr>
        <p:spPr>
          <a:xfrm xmlns:a="http://schemas.openxmlformats.org/drawingml/2006/main">
            <a:off x="7486650" y="4752975"/>
            <a:ext cx="36385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526075"/>
                </a:solidFill>
                <a:latin typeface="Avenir Next"/>
                <a:ea typeface="Avenir Next"/>
                <a:cs typeface="Avenir Next"/>
              </a:defRPr>
            </a:pPr>
            <a:r>
              <a:rPr sz="1125" b="0">
                <a:solidFill>
                  <a:srgbClr val="526075"/>
                </a:solidFill>
                <a:latin typeface="Avenir Next"/>
                <a:ea typeface="Avenir Next"/>
                <a:cs typeface="Avenir Next"/>
              </a:rPr>
              <a:t>Mobility, medical, child, older-adult, and transport needs affect priority.</a:t>
            </a:r>
          </a:p>
        </p:txBody>
      </p:sp>
      <p:sp>
        <p:nvSpPr>
          <p:cNvPr id="23" name="">
            <a:extLst xmlns:a="http://schemas.openxmlformats.org/drawingml/2006/main">
              <a:ext uri="{FF2B5EF4-FFF2-40B4-BE49-F238E27FC236}">
                <a16:creationId xmlns:a16="http://schemas.microsoft.com/office/drawing/2014/main" id="{589A8894-0470-4D20-8DC9-F1E2E12B43F8}"/>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AEGIS incident assessment and verification logic</a:t>
            </a:r>
          </a:p>
        </p:txBody>
      </p:sp>
    </p:spTree>
    <p:extLst>
      <p:ext uri="{BB962C8B-B14F-4D97-AF65-F5344CB8AC3E}">
        <p14:creationId xmlns:p14="http://schemas.microsoft.com/office/powerpoint/2010/main" val="1647546024"/>
      </p:ext>
    </p:extLst>
  </p:cSld>
</p:sld>
</file>

<file path=ppt/slides/slide7.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1EAE1D-C62F-4622-BF3B-8F16E83E429E}"/>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RESIDENT JOURNEY</a:t>
            </a:r>
          </a:p>
        </p:txBody>
      </p:sp>
      <p:sp>
        <p:nvSpPr>
          <p:cNvPr id="2" name="">
            <a:extLst xmlns:a="http://schemas.openxmlformats.org/drawingml/2006/main">
              <a:ext uri="{FF2B5EF4-FFF2-40B4-BE49-F238E27FC236}">
                <a16:creationId xmlns:a16="http://schemas.microsoft.com/office/drawing/2014/main" id="{AAEE2F1F-B702-41B9-B498-DEE79DB815DB}"/>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People can ask for the right help without learning emergency jargon.</a:t>
            </a:r>
          </a:p>
        </p:txBody>
      </p:sp>
      <p:sp>
        <p:nvSpPr>
          <p:cNvPr id="3" name="">
            <a:extLst xmlns:a="http://schemas.openxmlformats.org/drawingml/2006/main">
              <a:ext uri="{FF2B5EF4-FFF2-40B4-BE49-F238E27FC236}">
                <a16:creationId xmlns:a16="http://schemas.microsoft.com/office/drawing/2014/main" id="{24C60671-87AA-49D3-8E2D-232C8C079114}"/>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C4AB3FCA-64C3-437E-A559-1CD491EBDB38}"/>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19AFC8B5-8A50-4886-8C13-CC3F915DFB29}"/>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07</a:t>
            </a:r>
          </a:p>
        </p:txBody>
      </p:sp>
      <p:sp>
        <p:nvSpPr>
          <p:cNvPr id="6" name="">
            <a:extLst xmlns:a="http://schemas.openxmlformats.org/drawingml/2006/main">
              <a:ext uri="{FF2B5EF4-FFF2-40B4-BE49-F238E27FC236}">
                <a16:creationId xmlns:a16="http://schemas.microsoft.com/office/drawing/2014/main" id="{40C19311-F823-49A6-96EB-B328C0FAA315}"/>
              </a:ext>
            </a:extLst>
          </p:cNvPr>
          <p:cNvSpPr>
            <a:spLocks xmlns:a="http://schemas.openxmlformats.org/drawingml/2006/main" noGrp="1"/>
          </p:cNvSpPr>
          <p:nvPr/>
        </p:nvSpPr>
        <p:spPr>
          <a:xfrm xmlns:a="http://schemas.openxmlformats.org/drawingml/2006/main">
            <a:off x="552450" y="1981200"/>
            <a:ext cx="6667500" cy="3905250"/>
          </a:xfrm>
          <a:prstGeom xmlns:a="http://schemas.openxmlformats.org/drawingml/2006/main" prst="roundRect">
            <a:avLst>
              <a:gd name="adj" fmla="val 2439"/>
            </a:avLst>
          </a:prstGeom>
          <a:solidFill xmlns:a="http://schemas.openxmlformats.org/drawingml/2006/main">
            <a:srgbClr val="FFFFFF"/>
          </a:solidFill>
          <a:ln xmlns:a="http://schemas.openxmlformats.org/drawingml/2006/main" w="9525">
            <a:solidFill>
              <a:srgbClr val="E4E5E2"/>
            </a:solidFill>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6e25ee27094209"/>
          <a:srcRect xmlns:a="http://schemas.openxmlformats.org/drawingml/2006/main" l="0" t="4320" r="0" b="4320"/>
          <a:stretch xmlns:a="http://schemas.openxmlformats.org/drawingml/2006/main">
            <a:fillRect l="0" t="0" r="0" b="0"/>
          </a:stretch>
        </p:blipFill>
        <p:spPr>
          <a:xfrm xmlns:a="http://schemas.openxmlformats.org/drawingml/2006/main">
            <a:off x="666750" y="2095500"/>
            <a:ext cx="6438900" cy="3676650"/>
          </a:xfrm>
          <a:prstGeom xmlns:a="http://schemas.openxmlformats.org/drawingml/2006/main" prst="roundRect">
            <a:avLst>
              <a:gd name="adj" fmla="val 3627"/>
            </a:avLst>
          </a:prstGeom>
        </p:spPr>
      </p:pic>
      <p:sp>
        <p:nvSpPr>
          <p:cNvPr id="8" name="">
            <a:extLst xmlns:a="http://schemas.openxmlformats.org/drawingml/2006/main">
              <a:ext uri="{FF2B5EF4-FFF2-40B4-BE49-F238E27FC236}">
                <a16:creationId xmlns:a16="http://schemas.microsoft.com/office/drawing/2014/main" id="{3FC58B82-38CD-4B0F-8AD2-7E7B1DF8042D}"/>
              </a:ext>
            </a:extLst>
          </p:cNvPr>
          <p:cNvSpPr>
            <a:spLocks xmlns:a="http://schemas.openxmlformats.org/drawingml/2006/main" noGrp="1"/>
          </p:cNvSpPr>
          <p:nvPr/>
        </p:nvSpPr>
        <p:spPr>
          <a:xfrm xmlns:a="http://schemas.openxmlformats.org/drawingml/2006/main">
            <a:off x="7696200" y="21145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0242B"/>
                </a:solidFill>
                <a:latin typeface="Avenir Next"/>
                <a:ea typeface="Avenir Next"/>
                <a:cs typeface="Avenir Next"/>
              </a:defRPr>
            </a:pPr>
            <a:r>
              <a:rPr sz="1125" b="1">
                <a:solidFill>
                  <a:srgbClr val="20242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0EDC1621-F64B-49E5-B3C9-CD613357D836}"/>
              </a:ext>
            </a:extLst>
          </p:cNvPr>
          <p:cNvSpPr>
            <a:spLocks xmlns:a="http://schemas.openxmlformats.org/drawingml/2006/main" noGrp="1"/>
          </p:cNvSpPr>
          <p:nvPr/>
        </p:nvSpPr>
        <p:spPr>
          <a:xfrm xmlns:a="http://schemas.openxmlformats.org/drawingml/2006/main">
            <a:off x="8153400" y="2095500"/>
            <a:ext cx="3105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Enter name or initials</a:t>
            </a:r>
          </a:p>
        </p:txBody>
      </p:sp>
      <p:sp>
        <p:nvSpPr>
          <p:cNvPr id="10" name="">
            <a:extLst xmlns:a="http://schemas.openxmlformats.org/drawingml/2006/main">
              <a:ext uri="{FF2B5EF4-FFF2-40B4-BE49-F238E27FC236}">
                <a16:creationId xmlns:a16="http://schemas.microsoft.com/office/drawing/2014/main" id="{7AD34135-E9A4-4ADA-ABF8-244E07BC44F4}"/>
              </a:ext>
            </a:extLst>
          </p:cNvPr>
          <p:cNvSpPr>
            <a:spLocks xmlns:a="http://schemas.openxmlformats.org/drawingml/2006/main" noGrp="1"/>
          </p:cNvSpPr>
          <p:nvPr/>
        </p:nvSpPr>
        <p:spPr>
          <a:xfrm xmlns:a="http://schemas.openxmlformats.org/drawingml/2006/main">
            <a:off x="7848600" y="2505075"/>
            <a:ext cx="19050" cy="438150"/>
          </a:xfrm>
          <a:prstGeom xmlns:a="http://schemas.openxmlformats.org/drawingml/2006/main" prst="rect">
            <a:avLst/>
          </a:prstGeom>
          <a:solidFill xmlns:a="http://schemas.openxmlformats.org/drawingml/2006/main">
            <a:srgbClr val="D7D8D5"/>
          </a:solidFill>
          <a:ln xmlns:a="http://schemas.openxmlformats.org/drawingml/2006/main" w="0">
            <a:solidFill>
              <a:srgbClr val="000000">
                <a:alpha val="0"/>
              </a:srgbClr>
            </a:solidFill>
          </a:ln>
        </p:spPr>
      </p:sp>
      <p:sp>
        <p:nvSpPr>
          <p:cNvPr id="11" name="">
            <a:extLst xmlns:a="http://schemas.openxmlformats.org/drawingml/2006/main">
              <a:ext uri="{FF2B5EF4-FFF2-40B4-BE49-F238E27FC236}">
                <a16:creationId xmlns:a16="http://schemas.microsoft.com/office/drawing/2014/main" id="{D5656B93-1B92-48E7-897A-F932D55D1ECC}"/>
              </a:ext>
            </a:extLst>
          </p:cNvPr>
          <p:cNvSpPr>
            <a:spLocks xmlns:a="http://schemas.openxmlformats.org/drawingml/2006/main" noGrp="1"/>
          </p:cNvSpPr>
          <p:nvPr/>
        </p:nvSpPr>
        <p:spPr>
          <a:xfrm xmlns:a="http://schemas.openxmlformats.org/drawingml/2006/main">
            <a:off x="7696200" y="29527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0242B"/>
                </a:solidFill>
                <a:latin typeface="Avenir Next"/>
                <a:ea typeface="Avenir Next"/>
                <a:cs typeface="Avenir Next"/>
              </a:defRPr>
            </a:pPr>
            <a:r>
              <a:rPr sz="1125" b="1">
                <a:solidFill>
                  <a:srgbClr val="20242B"/>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47721317-0E11-4110-8212-4EFE020CB54D}"/>
              </a:ext>
            </a:extLst>
          </p:cNvPr>
          <p:cNvSpPr>
            <a:spLocks xmlns:a="http://schemas.openxmlformats.org/drawingml/2006/main" noGrp="1"/>
          </p:cNvSpPr>
          <p:nvPr/>
        </p:nvSpPr>
        <p:spPr>
          <a:xfrm xmlns:a="http://schemas.openxmlformats.org/drawingml/2006/main">
            <a:off x="8153400" y="2933700"/>
            <a:ext cx="3105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Search an address or landmark</a:t>
            </a:r>
          </a:p>
        </p:txBody>
      </p:sp>
      <p:sp>
        <p:nvSpPr>
          <p:cNvPr id="13" name="">
            <a:extLst xmlns:a="http://schemas.openxmlformats.org/drawingml/2006/main">
              <a:ext uri="{FF2B5EF4-FFF2-40B4-BE49-F238E27FC236}">
                <a16:creationId xmlns:a16="http://schemas.microsoft.com/office/drawing/2014/main" id="{09244E9B-3FDE-43D9-A49E-D7DB9E81AC77}"/>
              </a:ext>
            </a:extLst>
          </p:cNvPr>
          <p:cNvSpPr>
            <a:spLocks xmlns:a="http://schemas.openxmlformats.org/drawingml/2006/main" noGrp="1"/>
          </p:cNvSpPr>
          <p:nvPr/>
        </p:nvSpPr>
        <p:spPr>
          <a:xfrm xmlns:a="http://schemas.openxmlformats.org/drawingml/2006/main">
            <a:off x="7848600" y="3343275"/>
            <a:ext cx="19050" cy="438150"/>
          </a:xfrm>
          <a:prstGeom xmlns:a="http://schemas.openxmlformats.org/drawingml/2006/main" prst="rect">
            <a:avLst/>
          </a:prstGeom>
          <a:solidFill xmlns:a="http://schemas.openxmlformats.org/drawingml/2006/main">
            <a:srgbClr val="D7D8D5"/>
          </a:solidFill>
          <a:ln xmlns:a="http://schemas.openxmlformats.org/drawingml/2006/main" w="0">
            <a:solidFill>
              <a:srgbClr val="000000">
                <a:alpha val="0"/>
              </a:srgbClr>
            </a:solidFill>
          </a:ln>
        </p:spPr>
      </p:sp>
      <p:sp>
        <p:nvSpPr>
          <p:cNvPr id="14" name="">
            <a:extLst xmlns:a="http://schemas.openxmlformats.org/drawingml/2006/main">
              <a:ext uri="{FF2B5EF4-FFF2-40B4-BE49-F238E27FC236}">
                <a16:creationId xmlns:a16="http://schemas.microsoft.com/office/drawing/2014/main" id="{EA167F07-2E36-4084-B27A-02D11E92192D}"/>
              </a:ext>
            </a:extLst>
          </p:cNvPr>
          <p:cNvSpPr>
            <a:spLocks xmlns:a="http://schemas.openxmlformats.org/drawingml/2006/main" noGrp="1"/>
          </p:cNvSpPr>
          <p:nvPr/>
        </p:nvSpPr>
        <p:spPr>
          <a:xfrm xmlns:a="http://schemas.openxmlformats.org/drawingml/2006/main">
            <a:off x="7696200" y="3790950"/>
            <a:ext cx="323850" cy="3238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0242B"/>
                </a:solidFill>
                <a:latin typeface="Avenir Next"/>
                <a:ea typeface="Avenir Next"/>
                <a:cs typeface="Avenir Next"/>
              </a:defRPr>
            </a:pPr>
            <a:r>
              <a:rPr sz="1125" b="1">
                <a:solidFill>
                  <a:srgbClr val="20242B"/>
                </a:solidFill>
                <a:latin typeface="Avenir Next"/>
                <a:ea typeface="Avenir Next"/>
                <a:cs typeface="Avenir Next"/>
              </a:rPr>
              <a:t>3</a:t>
            </a:r>
          </a:p>
        </p:txBody>
      </p:sp>
      <p:sp>
        <p:nvSpPr>
          <p:cNvPr id="15" name="">
            <a:extLst xmlns:a="http://schemas.openxmlformats.org/drawingml/2006/main">
              <a:ext uri="{FF2B5EF4-FFF2-40B4-BE49-F238E27FC236}">
                <a16:creationId xmlns:a16="http://schemas.microsoft.com/office/drawing/2014/main" id="{FB773EF2-1340-4A11-9A2B-B88AD7E7C38E}"/>
              </a:ext>
            </a:extLst>
          </p:cNvPr>
          <p:cNvSpPr>
            <a:spLocks xmlns:a="http://schemas.openxmlformats.org/drawingml/2006/main" noGrp="1"/>
          </p:cNvSpPr>
          <p:nvPr/>
        </p:nvSpPr>
        <p:spPr>
          <a:xfrm xmlns:a="http://schemas.openxmlformats.org/drawingml/2006/main">
            <a:off x="8153400" y="3771900"/>
            <a:ext cx="3105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Choose needs and vulnerability</a:t>
            </a:r>
          </a:p>
        </p:txBody>
      </p:sp>
      <p:sp>
        <p:nvSpPr>
          <p:cNvPr id="16" name="">
            <a:extLst xmlns:a="http://schemas.openxmlformats.org/drawingml/2006/main">
              <a:ext uri="{FF2B5EF4-FFF2-40B4-BE49-F238E27FC236}">
                <a16:creationId xmlns:a16="http://schemas.microsoft.com/office/drawing/2014/main" id="{3FE1C7B8-E2BB-4341-9143-2E8596D854D2}"/>
              </a:ext>
            </a:extLst>
          </p:cNvPr>
          <p:cNvSpPr>
            <a:spLocks xmlns:a="http://schemas.openxmlformats.org/drawingml/2006/main" noGrp="1"/>
          </p:cNvSpPr>
          <p:nvPr/>
        </p:nvSpPr>
        <p:spPr>
          <a:xfrm xmlns:a="http://schemas.openxmlformats.org/drawingml/2006/main">
            <a:off x="7848600" y="4181475"/>
            <a:ext cx="19050" cy="438150"/>
          </a:xfrm>
          <a:prstGeom xmlns:a="http://schemas.openxmlformats.org/drawingml/2006/main" prst="rect">
            <a:avLst/>
          </a:prstGeom>
          <a:solidFill xmlns:a="http://schemas.openxmlformats.org/drawingml/2006/main">
            <a:srgbClr val="D7D8D5"/>
          </a:solidFill>
          <a:ln xmlns:a="http://schemas.openxmlformats.org/drawingml/2006/main" w="0">
            <a:solidFill>
              <a:srgbClr val="000000">
                <a:alpha val="0"/>
              </a:srgbClr>
            </a:solidFill>
          </a:ln>
        </p:spPr>
      </p:sp>
      <p:sp>
        <p:nvSpPr>
          <p:cNvPr id="17" name="">
            <a:extLst xmlns:a="http://schemas.openxmlformats.org/drawingml/2006/main">
              <a:ext uri="{FF2B5EF4-FFF2-40B4-BE49-F238E27FC236}">
                <a16:creationId xmlns:a16="http://schemas.microsoft.com/office/drawing/2014/main" id="{BF705DC7-B176-4D96-9120-24CDC0B75718}"/>
              </a:ext>
            </a:extLst>
          </p:cNvPr>
          <p:cNvSpPr>
            <a:spLocks xmlns:a="http://schemas.openxmlformats.org/drawingml/2006/main" noGrp="1"/>
          </p:cNvSpPr>
          <p:nvPr/>
        </p:nvSpPr>
        <p:spPr>
          <a:xfrm xmlns:a="http://schemas.openxmlformats.org/drawingml/2006/main">
            <a:off x="7696200" y="4629150"/>
            <a:ext cx="323850" cy="323850"/>
          </a:xfrm>
          <a:prstGeom xmlns:a="http://schemas.openxmlformats.org/drawingml/2006/main" prst="ellipse">
            <a:avLst/>
          </a:prstGeom>
          <a:solidFill xmlns:a="http://schemas.openxmlformats.org/drawingml/2006/main">
            <a:srgbClr val="D9B26F"/>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0242B"/>
                </a:solidFill>
                <a:latin typeface="Avenir Next"/>
                <a:ea typeface="Avenir Next"/>
                <a:cs typeface="Avenir Next"/>
              </a:defRPr>
            </a:pPr>
            <a:r>
              <a:rPr sz="1125" b="1">
                <a:solidFill>
                  <a:srgbClr val="20242B"/>
                </a:solidFill>
                <a:latin typeface="Avenir Next"/>
                <a:ea typeface="Avenir Next"/>
                <a:cs typeface="Avenir Next"/>
              </a:rPr>
              <a:t>4</a:t>
            </a:r>
          </a:p>
        </p:txBody>
      </p:sp>
      <p:sp>
        <p:nvSpPr>
          <p:cNvPr id="18" name="">
            <a:extLst xmlns:a="http://schemas.openxmlformats.org/drawingml/2006/main">
              <a:ext uri="{FF2B5EF4-FFF2-40B4-BE49-F238E27FC236}">
                <a16:creationId xmlns:a16="http://schemas.microsoft.com/office/drawing/2014/main" id="{1CF5723B-6731-4B84-81DB-9A70F332F101}"/>
              </a:ext>
            </a:extLst>
          </p:cNvPr>
          <p:cNvSpPr>
            <a:spLocks xmlns:a="http://schemas.openxmlformats.org/drawingml/2006/main" noGrp="1"/>
          </p:cNvSpPr>
          <p:nvPr/>
        </p:nvSpPr>
        <p:spPr>
          <a:xfrm xmlns:a="http://schemas.openxmlformats.org/drawingml/2006/main">
            <a:off x="8153400" y="4610100"/>
            <a:ext cx="3105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97232"/>
          </a:bodyPr>
          <a:lstStyle xmlns:a="http://schemas.openxmlformats.org/drawingml/2006/main"/>
          <a:p xmlns:a="http://schemas.openxmlformats.org/drawingml/2006/main">
            <a:pPr algn="l">
              <a:defRPr sz="1500" b="1">
                <a:solidFill>
                  <a:srgbClr val="121722"/>
                </a:solidFill>
                <a:latin typeface="Avenir Next"/>
                <a:ea typeface="Avenir Next"/>
                <a:cs typeface="Avenir Next"/>
              </a:defRPr>
            </a:pPr>
            <a:r>
              <a:rPr sz="1500" b="1">
                <a:solidFill>
                  <a:srgbClr val="121722"/>
                </a:solidFill>
                <a:latin typeface="Avenir Next"/>
                <a:ea typeface="Avenir Next"/>
                <a:cs typeface="Avenir Next"/>
              </a:rPr>
              <a:t>Submit for coordinator verification</a:t>
            </a:r>
          </a:p>
        </p:txBody>
      </p:sp>
      <p:sp>
        <p:nvSpPr>
          <p:cNvPr id="19" name="">
            <a:extLst xmlns:a="http://schemas.openxmlformats.org/drawingml/2006/main">
              <a:ext uri="{FF2B5EF4-FFF2-40B4-BE49-F238E27FC236}">
                <a16:creationId xmlns:a16="http://schemas.microsoft.com/office/drawing/2014/main" id="{BFF2740F-C163-4679-81CF-75B50F0C5F8C}"/>
              </a:ext>
            </a:extLst>
          </p:cNvPr>
          <p:cNvSpPr>
            <a:spLocks xmlns:a="http://schemas.openxmlformats.org/drawingml/2006/main" noGrp="1"/>
          </p:cNvSpPr>
          <p:nvPr/>
        </p:nvSpPr>
        <p:spPr>
          <a:xfrm xmlns:a="http://schemas.openxmlformats.org/drawingml/2006/main">
            <a:off x="7696200" y="5467350"/>
            <a:ext cx="3562350" cy="419100"/>
          </a:xfrm>
          <a:prstGeom xmlns:a="http://schemas.openxmlformats.org/drawingml/2006/main" prst="roundRect">
            <a:avLst>
              <a:gd name="adj" fmla="val 22727"/>
            </a:avLst>
          </a:prstGeom>
          <a:solidFill xmlns:a="http://schemas.openxmlformats.org/drawingml/2006/main">
            <a:srgbClr val="F4DDD5"/>
          </a:solidFill>
          <a:ln xmlns:a="http://schemas.openxmlformats.org/drawingml/2006/main" w="0">
            <a:solidFill>
              <a:srgbClr val="000000">
                <a:alpha val="0"/>
              </a:srgbClr>
            </a:solidFill>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1125" b="1">
                <a:solidFill>
                  <a:srgbClr val="121722"/>
                </a:solidFill>
                <a:latin typeface="Avenir Next"/>
                <a:ea typeface="Avenir Next"/>
                <a:cs typeface="Avenir Next"/>
              </a:defRPr>
            </a:pPr>
            <a:r>
              <a:rPr sz="1125" b="1">
                <a:solidFill>
                  <a:srgbClr val="121722"/>
                </a:solidFill>
                <a:latin typeface="Avenir Next"/>
                <a:ea typeface="Avenir Next"/>
                <a:cs typeface="Avenir Next"/>
              </a:rPr>
              <a:t>Immediate danger guidance stays visible.</a:t>
            </a:r>
          </a:p>
        </p:txBody>
      </p:sp>
      <p:sp>
        <p:nvSpPr>
          <p:cNvPr id="20" name="">
            <a:extLst xmlns:a="http://schemas.openxmlformats.org/drawingml/2006/main">
              <a:ext uri="{FF2B5EF4-FFF2-40B4-BE49-F238E27FC236}">
                <a16:creationId xmlns:a16="http://schemas.microsoft.com/office/drawing/2014/main" id="{F72DA44F-8FCD-4B75-9901-6D2362C3FD61}"/>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Live product screenshot captured from /help</a:t>
            </a:r>
          </a:p>
        </p:txBody>
      </p:sp>
    </p:spTree>
    <p:extLst>
      <p:ext uri="{BB962C8B-B14F-4D97-AF65-F5344CB8AC3E}">
        <p14:creationId xmlns:p14="http://schemas.microsoft.com/office/powerpoint/2010/main" val="1417026234"/>
      </p:ext>
    </p:extLst>
  </p:cSld>
</p:sld>
</file>

<file path=ppt/slides/slide8.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47B0A4-D36F-4108-82C1-71241E959E41}"/>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COMMUNITY CAPACITY</a:t>
            </a:r>
          </a:p>
        </p:txBody>
      </p:sp>
      <p:sp>
        <p:nvSpPr>
          <p:cNvPr id="2" name="">
            <a:extLst xmlns:a="http://schemas.openxmlformats.org/drawingml/2006/main">
              <a:ext uri="{FF2B5EF4-FFF2-40B4-BE49-F238E27FC236}">
                <a16:creationId xmlns:a16="http://schemas.microsoft.com/office/drawing/2014/main" id="{D1057AE9-3038-4344-91C3-BC323F285FF3}"/>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Volunteer and shelter offers become useful only after verification.</a:t>
            </a:r>
          </a:p>
        </p:txBody>
      </p:sp>
      <p:sp>
        <p:nvSpPr>
          <p:cNvPr id="3" name="">
            <a:extLst xmlns:a="http://schemas.openxmlformats.org/drawingml/2006/main">
              <a:ext uri="{FF2B5EF4-FFF2-40B4-BE49-F238E27FC236}">
                <a16:creationId xmlns:a16="http://schemas.microsoft.com/office/drawing/2014/main" id="{7BA30F09-84E5-4F18-8929-B6F669F7F947}"/>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FD585940-66E9-4E67-8261-41E6B7796A6B}"/>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1847E0BB-BF9A-4ED0-8390-CF6DD57F03DC}"/>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914BC737-A13D-4356-847B-ABB011C0FAE6}"/>
              </a:ext>
            </a:extLst>
          </p:cNvPr>
          <p:cNvSpPr>
            <a:spLocks xmlns:a="http://schemas.openxmlformats.org/drawingml/2006/main" noGrp="1"/>
          </p:cNvSpPr>
          <p:nvPr/>
        </p:nvSpPr>
        <p:spPr>
          <a:xfrm xmlns:a="http://schemas.openxmlformats.org/drawingml/2006/main">
            <a:off x="552450" y="2000250"/>
            <a:ext cx="6400800" cy="3771900"/>
          </a:xfrm>
          <a:prstGeom xmlns:a="http://schemas.openxmlformats.org/drawingml/2006/main" prst="roundRect">
            <a:avLst>
              <a:gd name="adj" fmla="val 2525"/>
            </a:avLst>
          </a:prstGeom>
          <a:solidFill xmlns:a="http://schemas.openxmlformats.org/drawingml/2006/main">
            <a:srgbClr val="FFFFFF"/>
          </a:solidFill>
          <a:ln xmlns:a="http://schemas.openxmlformats.org/drawingml/2006/main" w="9525">
            <a:solidFill>
              <a:srgbClr val="E4E5E2"/>
            </a:solidFill>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405b625cc7414f"/>
          <a:srcRect xmlns:a="http://schemas.openxmlformats.org/drawingml/2006/main" l="0" t="4074" r="0" b="4074"/>
          <a:stretch xmlns:a="http://schemas.openxmlformats.org/drawingml/2006/main">
            <a:fillRect l="0" t="0" r="0" b="0"/>
          </a:stretch>
        </p:blipFill>
        <p:spPr>
          <a:xfrm xmlns:a="http://schemas.openxmlformats.org/drawingml/2006/main">
            <a:off x="666750" y="2114550"/>
            <a:ext cx="6172200" cy="3543300"/>
          </a:xfrm>
          <a:prstGeom xmlns:a="http://schemas.openxmlformats.org/drawingml/2006/main" prst="roundRect">
            <a:avLst>
              <a:gd name="adj" fmla="val 3763"/>
            </a:avLst>
          </a:prstGeom>
        </p:spPr>
      </p:pic>
      <p:sp>
        <p:nvSpPr>
          <p:cNvPr id="8" name="">
            <a:extLst xmlns:a="http://schemas.openxmlformats.org/drawingml/2006/main">
              <a:ext uri="{FF2B5EF4-FFF2-40B4-BE49-F238E27FC236}">
                <a16:creationId xmlns:a16="http://schemas.microsoft.com/office/drawing/2014/main" id="{ADED02CD-E83C-42C2-9F85-E836D4A031A7}"/>
              </a:ext>
            </a:extLst>
          </p:cNvPr>
          <p:cNvSpPr>
            <a:spLocks xmlns:a="http://schemas.openxmlformats.org/drawingml/2006/main" noGrp="1"/>
          </p:cNvSpPr>
          <p:nvPr/>
        </p:nvSpPr>
        <p:spPr>
          <a:xfrm xmlns:a="http://schemas.openxmlformats.org/drawingml/2006/main">
            <a:off x="7391400" y="20574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REGISTER</a:t>
            </a:r>
          </a:p>
        </p:txBody>
      </p:sp>
      <p:sp>
        <p:nvSpPr>
          <p:cNvPr id="9" name="">
            <a:extLst xmlns:a="http://schemas.openxmlformats.org/drawingml/2006/main">
              <a:ext uri="{FF2B5EF4-FFF2-40B4-BE49-F238E27FC236}">
                <a16:creationId xmlns:a16="http://schemas.microsoft.com/office/drawing/2014/main" id="{DCBD2244-DE82-46D8-91B0-EC2AEA9C8BB1}"/>
              </a:ext>
            </a:extLst>
          </p:cNvPr>
          <p:cNvSpPr>
            <a:spLocks xmlns:a="http://schemas.openxmlformats.org/drawingml/2006/main" noGrp="1"/>
          </p:cNvSpPr>
          <p:nvPr/>
        </p:nvSpPr>
        <p:spPr>
          <a:xfrm xmlns:a="http://schemas.openxmlformats.org/drawingml/2006/main">
            <a:off x="7391400" y="2381250"/>
            <a:ext cx="1809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21722"/>
                </a:solidFill>
                <a:latin typeface="Avenir Next"/>
                <a:ea typeface="Avenir Next"/>
                <a:cs typeface="Avenir Next"/>
              </a:defRPr>
            </a:pPr>
            <a:r>
              <a:rPr sz="1650" b="1">
                <a:solidFill>
                  <a:srgbClr val="121722"/>
                </a:solidFill>
                <a:latin typeface="Avenir Next"/>
                <a:ea typeface="Avenir Next"/>
                <a:cs typeface="Avenir Next"/>
              </a:rPr>
              <a:t>Volunteer</a:t>
            </a:r>
          </a:p>
        </p:txBody>
      </p:sp>
      <p:sp>
        <p:nvSpPr>
          <p:cNvPr id="10" name="">
            <a:extLst xmlns:a="http://schemas.openxmlformats.org/drawingml/2006/main">
              <a:ext uri="{FF2B5EF4-FFF2-40B4-BE49-F238E27FC236}">
                <a16:creationId xmlns:a16="http://schemas.microsoft.com/office/drawing/2014/main" id="{5F73A848-AE0B-45D6-8017-B9AAC7EC1B44}"/>
              </a:ext>
            </a:extLst>
          </p:cNvPr>
          <p:cNvSpPr>
            <a:spLocks xmlns:a="http://schemas.openxmlformats.org/drawingml/2006/main" noGrp="1"/>
          </p:cNvSpPr>
          <p:nvPr/>
        </p:nvSpPr>
        <p:spPr>
          <a:xfrm xmlns:a="http://schemas.openxmlformats.org/drawingml/2006/main">
            <a:off x="7391400" y="2743200"/>
            <a:ext cx="3619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Location, skills, travel radius, availability</a:t>
            </a:r>
          </a:p>
        </p:txBody>
      </p:sp>
      <p:sp>
        <p:nvSpPr>
          <p:cNvPr id="11" name="">
            <a:extLst xmlns:a="http://schemas.openxmlformats.org/drawingml/2006/main">
              <a:ext uri="{FF2B5EF4-FFF2-40B4-BE49-F238E27FC236}">
                <a16:creationId xmlns:a16="http://schemas.microsoft.com/office/drawing/2014/main" id="{AAE2B5F3-C998-4140-B0AA-3AAD2E65228A}"/>
              </a:ext>
            </a:extLst>
          </p:cNvPr>
          <p:cNvSpPr>
            <a:spLocks xmlns:a="http://schemas.openxmlformats.org/drawingml/2006/main" noGrp="1"/>
          </p:cNvSpPr>
          <p:nvPr/>
        </p:nvSpPr>
        <p:spPr>
          <a:xfrm xmlns:a="http://schemas.openxmlformats.org/drawingml/2006/main">
            <a:off x="7391400" y="3429000"/>
            <a:ext cx="361950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2" name="">
            <a:extLst xmlns:a="http://schemas.openxmlformats.org/drawingml/2006/main">
              <a:ext uri="{FF2B5EF4-FFF2-40B4-BE49-F238E27FC236}">
                <a16:creationId xmlns:a16="http://schemas.microsoft.com/office/drawing/2014/main" id="{798578EC-5948-4ED6-B1D3-BBC1768F36D7}"/>
              </a:ext>
            </a:extLst>
          </p:cNvPr>
          <p:cNvSpPr>
            <a:spLocks xmlns:a="http://schemas.openxmlformats.org/drawingml/2006/main" noGrp="1"/>
          </p:cNvSpPr>
          <p:nvPr/>
        </p:nvSpPr>
        <p:spPr>
          <a:xfrm xmlns:a="http://schemas.openxmlformats.org/drawingml/2006/main">
            <a:off x="7391400" y="3657600"/>
            <a:ext cx="2190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21722"/>
                </a:solidFill>
                <a:latin typeface="Avenir Next"/>
                <a:ea typeface="Avenir Next"/>
                <a:cs typeface="Avenir Next"/>
              </a:defRPr>
            </a:pPr>
            <a:r>
              <a:rPr sz="1650" b="1">
                <a:solidFill>
                  <a:srgbClr val="121722"/>
                </a:solidFill>
                <a:latin typeface="Avenir Next"/>
                <a:ea typeface="Avenir Next"/>
                <a:cs typeface="Avenir Next"/>
              </a:rPr>
              <a:t>Shelter provider</a:t>
            </a:r>
          </a:p>
        </p:txBody>
      </p:sp>
      <p:sp>
        <p:nvSpPr>
          <p:cNvPr id="13" name="">
            <a:extLst xmlns:a="http://schemas.openxmlformats.org/drawingml/2006/main">
              <a:ext uri="{FF2B5EF4-FFF2-40B4-BE49-F238E27FC236}">
                <a16:creationId xmlns:a16="http://schemas.microsoft.com/office/drawing/2014/main" id="{DCC1B14F-2A41-4663-873E-A931E67DCCB6}"/>
              </a:ext>
            </a:extLst>
          </p:cNvPr>
          <p:cNvSpPr>
            <a:spLocks xmlns:a="http://schemas.openxmlformats.org/drawingml/2006/main" noGrp="1"/>
          </p:cNvSpPr>
          <p:nvPr/>
        </p:nvSpPr>
        <p:spPr>
          <a:xfrm xmlns:a="http://schemas.openxmlformats.org/drawingml/2006/main">
            <a:off x="7391400" y="4019550"/>
            <a:ext cx="3619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Spaces, step-free access, pets, backup power</a:t>
            </a:r>
          </a:p>
        </p:txBody>
      </p:sp>
      <p:sp>
        <p:nvSpPr>
          <p:cNvPr id="14" name="">
            <a:extLst xmlns:a="http://schemas.openxmlformats.org/drawingml/2006/main">
              <a:ext uri="{FF2B5EF4-FFF2-40B4-BE49-F238E27FC236}">
                <a16:creationId xmlns:a16="http://schemas.microsoft.com/office/drawing/2014/main" id="{B9C458D4-44CC-4548-85FC-ECE83DD4E0D7}"/>
              </a:ext>
            </a:extLst>
          </p:cNvPr>
          <p:cNvSpPr>
            <a:spLocks xmlns:a="http://schemas.openxmlformats.org/drawingml/2006/main" noGrp="1"/>
          </p:cNvSpPr>
          <p:nvPr/>
        </p:nvSpPr>
        <p:spPr>
          <a:xfrm xmlns:a="http://schemas.openxmlformats.org/drawingml/2006/main">
            <a:off x="8839200" y="4629150"/>
            <a:ext cx="57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C65D3B"/>
                </a:solidFill>
                <a:latin typeface="Avenir Next"/>
                <a:ea typeface="Avenir Next"/>
                <a:cs typeface="Avenir Next"/>
              </a:defRPr>
            </a:pPr>
            <a:r>
              <a:rPr sz="2100" b="1">
                <a:solidFill>
                  <a:srgbClr val="C65D3B"/>
                </a:solidFill>
                <a:latin typeface="Avenir Next"/>
                <a:ea typeface="Avenir Next"/>
                <a:cs typeface="Avenir Next"/>
              </a:rPr>
              <a:t>↓</a:t>
            </a:r>
          </a:p>
        </p:txBody>
      </p:sp>
      <p:sp>
        <p:nvSpPr>
          <p:cNvPr id="15" name="">
            <a:extLst xmlns:a="http://schemas.openxmlformats.org/drawingml/2006/main">
              <a:ext uri="{FF2B5EF4-FFF2-40B4-BE49-F238E27FC236}">
                <a16:creationId xmlns:a16="http://schemas.microsoft.com/office/drawing/2014/main" id="{F88989F4-C9E3-4AE6-8455-EBDA10C36CBF}"/>
              </a:ext>
            </a:extLst>
          </p:cNvPr>
          <p:cNvSpPr>
            <a:spLocks xmlns:a="http://schemas.openxmlformats.org/drawingml/2006/main" noGrp="1"/>
          </p:cNvSpPr>
          <p:nvPr/>
        </p:nvSpPr>
        <p:spPr>
          <a:xfrm xmlns:a="http://schemas.openxmlformats.org/drawingml/2006/main">
            <a:off x="7391400" y="5029200"/>
            <a:ext cx="3619500" cy="742950"/>
          </a:xfrm>
          <a:prstGeom xmlns:a="http://schemas.openxmlformats.org/drawingml/2006/main" prst="roundRect">
            <a:avLst>
              <a:gd name="adj" fmla="val 12821"/>
            </a:avLst>
          </a:prstGeom>
          <a:solidFill xmlns:a="http://schemas.openxmlformats.org/drawingml/2006/main">
            <a:srgbClr val="20242B"/>
          </a:solidFill>
          <a:ln xmlns:a="http://schemas.openxmlformats.org/drawingml/2006/main" w="0">
            <a:solidFill>
              <a:srgbClr val="000000">
                <a:alpha val="0"/>
              </a:srgbClr>
            </a:solidFill>
          </a:ln>
        </p:spPr>
        <p:txBody>
          <a:bodyPr xmlns:a="http://schemas.openxmlformats.org/drawingml/2006/main" lIns="152400" tIns="152400" rIns="152400" bIns="152400" anchor="ctr">
            <a:normAutofit fontScale="100000"/>
          </a:bodyPr>
          <a:lstStyle xmlns:a="http://schemas.openxmlformats.org/drawingml/2006/main"/>
          <a:p xmlns:a="http://schemas.openxmlformats.org/drawingml/2006/main">
            <a:pPr algn="ctr">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Coordinator verifies identity, capability, and current capacity before matching.</a:t>
            </a:r>
          </a:p>
        </p:txBody>
      </p:sp>
      <p:sp>
        <p:nvSpPr>
          <p:cNvPr id="16" name="">
            <a:extLst xmlns:a="http://schemas.openxmlformats.org/drawingml/2006/main">
              <a:ext uri="{FF2B5EF4-FFF2-40B4-BE49-F238E27FC236}">
                <a16:creationId xmlns:a16="http://schemas.microsoft.com/office/drawing/2014/main" id="{F2E68089-23CA-4AB8-B56F-41B8D116A90F}"/>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Live product screenshot captured from /support</a:t>
            </a:r>
          </a:p>
        </p:txBody>
      </p:sp>
    </p:spTree>
    <p:extLst>
      <p:ext uri="{BB962C8B-B14F-4D97-AF65-F5344CB8AC3E}">
        <p14:creationId xmlns:p14="http://schemas.microsoft.com/office/powerpoint/2010/main" val="1243258360"/>
      </p:ext>
    </p:extLst>
  </p:cSld>
</p:sld>
</file>

<file path=ppt/slides/slide9.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4D0545-DBE5-4CC9-A1B5-DE6F464F2608}"/>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COMMAND WORKFLOW</a:t>
            </a:r>
          </a:p>
        </p:txBody>
      </p:sp>
      <p:sp>
        <p:nvSpPr>
          <p:cNvPr id="2" name="">
            <a:extLst xmlns:a="http://schemas.openxmlformats.org/drawingml/2006/main">
              <a:ext uri="{FF2B5EF4-FFF2-40B4-BE49-F238E27FC236}">
                <a16:creationId xmlns:a16="http://schemas.microsoft.com/office/drawing/2014/main" id="{D3E273C6-0BE3-42C9-990A-96A8F281B2C9}"/>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121722"/>
                </a:solidFill>
                <a:latin typeface="Avenir Next"/>
                <a:ea typeface="Avenir Next"/>
                <a:cs typeface="Avenir Next"/>
              </a:defRPr>
            </a:pPr>
            <a:r>
              <a:rPr sz="3000" b="1">
                <a:solidFill>
                  <a:srgbClr val="121722"/>
                </a:solidFill>
                <a:latin typeface="Avenir Next"/>
                <a:ea typeface="Avenir Next"/>
                <a:cs typeface="Avenir Next"/>
              </a:rPr>
              <a:t>Coordinators see priority, staging, routes, and accountability together.</a:t>
            </a:r>
          </a:p>
        </p:txBody>
      </p:sp>
      <p:sp>
        <p:nvSpPr>
          <p:cNvPr id="3" name="">
            <a:extLst xmlns:a="http://schemas.openxmlformats.org/drawingml/2006/main">
              <a:ext uri="{FF2B5EF4-FFF2-40B4-BE49-F238E27FC236}">
                <a16:creationId xmlns:a16="http://schemas.microsoft.com/office/drawing/2014/main" id="{A5EBB075-C79A-4B1A-86C4-C95C0D229F28}"/>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EF27B50A-ABFF-46E3-AB2E-17038561911A}"/>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CFF57F49-85FF-45C7-B352-722B26EB1BFB}"/>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09</a:t>
            </a:r>
          </a:p>
        </p:txBody>
      </p:sp>
      <p:sp>
        <p:nvSpPr>
          <p:cNvPr id="6" name="">
            <a:extLst xmlns:a="http://schemas.openxmlformats.org/drawingml/2006/main">
              <a:ext uri="{FF2B5EF4-FFF2-40B4-BE49-F238E27FC236}">
                <a16:creationId xmlns:a16="http://schemas.microsoft.com/office/drawing/2014/main" id="{EE04A431-7976-4688-803C-C11976068065}"/>
              </a:ext>
            </a:extLst>
          </p:cNvPr>
          <p:cNvSpPr>
            <a:spLocks xmlns:a="http://schemas.openxmlformats.org/drawingml/2006/main" noGrp="1"/>
          </p:cNvSpPr>
          <p:nvPr/>
        </p:nvSpPr>
        <p:spPr>
          <a:xfrm xmlns:a="http://schemas.openxmlformats.org/drawingml/2006/main">
            <a:off x="552450" y="2000250"/>
            <a:ext cx="6724650" cy="3810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E4E5E2"/>
            </a:solidFill>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6d74fce439437d"/>
          <a:srcRect xmlns:a="http://schemas.openxmlformats.org/drawingml/2006/main" l="0" t="5894" r="0" b="5894"/>
          <a:stretch xmlns:a="http://schemas.openxmlformats.org/drawingml/2006/main">
            <a:fillRect l="0" t="0" r="0" b="0"/>
          </a:stretch>
        </p:blipFill>
        <p:spPr>
          <a:xfrm xmlns:a="http://schemas.openxmlformats.org/drawingml/2006/main">
            <a:off x="666750" y="2114550"/>
            <a:ext cx="6496050" cy="3581400"/>
          </a:xfrm>
          <a:prstGeom xmlns:a="http://schemas.openxmlformats.org/drawingml/2006/main" prst="roundRect">
            <a:avLst>
              <a:gd name="adj" fmla="val 3723"/>
            </a:avLst>
          </a:prstGeom>
        </p:spPr>
      </p:pic>
      <p:sp>
        <p:nvSpPr>
          <p:cNvPr id="8" name="">
            <a:extLst xmlns:a="http://schemas.openxmlformats.org/drawingml/2006/main">
              <a:ext uri="{FF2B5EF4-FFF2-40B4-BE49-F238E27FC236}">
                <a16:creationId xmlns:a16="http://schemas.microsoft.com/office/drawing/2014/main" id="{751B95DA-520B-41D7-B7BB-B8E31EE23A50}"/>
              </a:ext>
            </a:extLst>
          </p:cNvPr>
          <p:cNvSpPr>
            <a:spLocks xmlns:a="http://schemas.openxmlformats.org/drawingml/2006/main" noGrp="1"/>
          </p:cNvSpPr>
          <p:nvPr/>
        </p:nvSpPr>
        <p:spPr>
          <a:xfrm xmlns:a="http://schemas.openxmlformats.org/drawingml/2006/main">
            <a:off x="7677150" y="2057400"/>
            <a:ext cx="304800" cy="30480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20242B"/>
                </a:solidFill>
                <a:latin typeface="Avenir Next"/>
                <a:ea typeface="Avenir Next"/>
                <a:cs typeface="Avenir Next"/>
              </a:defRPr>
            </a:pPr>
            <a:r>
              <a:rPr sz="1050" b="1">
                <a:solidFill>
                  <a:srgbClr val="20242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8FA94954-A01C-4A14-95DC-5C7ECF99EB1B}"/>
              </a:ext>
            </a:extLst>
          </p:cNvPr>
          <p:cNvSpPr>
            <a:spLocks xmlns:a="http://schemas.openxmlformats.org/drawingml/2006/main" noGrp="1"/>
          </p:cNvSpPr>
          <p:nvPr/>
        </p:nvSpPr>
        <p:spPr>
          <a:xfrm xmlns:a="http://schemas.openxmlformats.org/drawingml/2006/main">
            <a:off x="8115300" y="20383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Import or enter reports</a:t>
            </a:r>
          </a:p>
        </p:txBody>
      </p:sp>
      <p:sp>
        <p:nvSpPr>
          <p:cNvPr id="10" name="">
            <a:extLst xmlns:a="http://schemas.openxmlformats.org/drawingml/2006/main">
              <a:ext uri="{FF2B5EF4-FFF2-40B4-BE49-F238E27FC236}">
                <a16:creationId xmlns:a16="http://schemas.microsoft.com/office/drawing/2014/main" id="{E1880A97-978D-4FBE-8DD3-DAA3F555339B}"/>
              </a:ext>
            </a:extLst>
          </p:cNvPr>
          <p:cNvSpPr>
            <a:spLocks xmlns:a="http://schemas.openxmlformats.org/drawingml/2006/main" noGrp="1"/>
          </p:cNvSpPr>
          <p:nvPr/>
        </p:nvSpPr>
        <p:spPr>
          <a:xfrm xmlns:a="http://schemas.openxmlformats.org/drawingml/2006/main">
            <a:off x="7677150" y="2743200"/>
            <a:ext cx="304800" cy="30480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20242B"/>
                </a:solidFill>
                <a:latin typeface="Avenir Next"/>
                <a:ea typeface="Avenir Next"/>
                <a:cs typeface="Avenir Next"/>
              </a:defRPr>
            </a:pPr>
            <a:r>
              <a:rPr sz="1050" b="1">
                <a:solidFill>
                  <a:srgbClr val="20242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498F8090-4BCE-477B-B432-78F805EE2F5F}"/>
              </a:ext>
            </a:extLst>
          </p:cNvPr>
          <p:cNvSpPr>
            <a:spLocks xmlns:a="http://schemas.openxmlformats.org/drawingml/2006/main" noGrp="1"/>
          </p:cNvSpPr>
          <p:nvPr/>
        </p:nvSpPr>
        <p:spPr>
          <a:xfrm xmlns:a="http://schemas.openxmlformats.org/drawingml/2006/main">
            <a:off x="8115300" y="27241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Review all suggested staging sites</a:t>
            </a:r>
          </a:p>
        </p:txBody>
      </p:sp>
      <p:sp>
        <p:nvSpPr>
          <p:cNvPr id="12" name="">
            <a:extLst xmlns:a="http://schemas.openxmlformats.org/drawingml/2006/main">
              <a:ext uri="{FF2B5EF4-FFF2-40B4-BE49-F238E27FC236}">
                <a16:creationId xmlns:a16="http://schemas.microsoft.com/office/drawing/2014/main" id="{2D677590-0119-4B76-8D02-546EBF659A5B}"/>
              </a:ext>
            </a:extLst>
          </p:cNvPr>
          <p:cNvSpPr>
            <a:spLocks xmlns:a="http://schemas.openxmlformats.org/drawingml/2006/main" noGrp="1"/>
          </p:cNvSpPr>
          <p:nvPr/>
        </p:nvSpPr>
        <p:spPr>
          <a:xfrm xmlns:a="http://schemas.openxmlformats.org/drawingml/2006/main">
            <a:off x="7677150" y="3429000"/>
            <a:ext cx="304800" cy="30480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20242B"/>
                </a:solidFill>
                <a:latin typeface="Avenir Next"/>
                <a:ea typeface="Avenir Next"/>
                <a:cs typeface="Avenir Next"/>
              </a:defRPr>
            </a:pPr>
            <a:r>
              <a:rPr sz="1050" b="1">
                <a:solidFill>
                  <a:srgbClr val="20242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CD3BAFC4-1E5D-40BD-AB3B-B3191ACCA215}"/>
              </a:ext>
            </a:extLst>
          </p:cNvPr>
          <p:cNvSpPr>
            <a:spLocks xmlns:a="http://schemas.openxmlformats.org/drawingml/2006/main" noGrp="1"/>
          </p:cNvSpPr>
          <p:nvPr/>
        </p:nvSpPr>
        <p:spPr>
          <a:xfrm xmlns:a="http://schemas.openxmlformats.org/drawingml/2006/main">
            <a:off x="8115300" y="34099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Select multiple staging points</a:t>
            </a:r>
          </a:p>
        </p:txBody>
      </p:sp>
      <p:sp>
        <p:nvSpPr>
          <p:cNvPr id="14" name="">
            <a:extLst xmlns:a="http://schemas.openxmlformats.org/drawingml/2006/main">
              <a:ext uri="{FF2B5EF4-FFF2-40B4-BE49-F238E27FC236}">
                <a16:creationId xmlns:a16="http://schemas.microsoft.com/office/drawing/2014/main" id="{18749EDA-B918-42EF-A74D-60CFA06A423F}"/>
              </a:ext>
            </a:extLst>
          </p:cNvPr>
          <p:cNvSpPr>
            <a:spLocks xmlns:a="http://schemas.openxmlformats.org/drawingml/2006/main" noGrp="1"/>
          </p:cNvSpPr>
          <p:nvPr/>
        </p:nvSpPr>
        <p:spPr>
          <a:xfrm xmlns:a="http://schemas.openxmlformats.org/drawingml/2006/main">
            <a:off x="7677150" y="4114800"/>
            <a:ext cx="304800" cy="30480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20242B"/>
                </a:solidFill>
                <a:latin typeface="Avenir Next"/>
                <a:ea typeface="Avenir Next"/>
                <a:cs typeface="Avenir Next"/>
              </a:defRPr>
            </a:pPr>
            <a:r>
              <a:rPr sz="1050" b="1">
                <a:solidFill>
                  <a:srgbClr val="20242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C93B0DF1-125F-4756-8DD4-A25C2D06084E}"/>
              </a:ext>
            </a:extLst>
          </p:cNvPr>
          <p:cNvSpPr>
            <a:spLocks xmlns:a="http://schemas.openxmlformats.org/drawingml/2006/main" noGrp="1"/>
          </p:cNvSpPr>
          <p:nvPr/>
        </p:nvSpPr>
        <p:spPr>
          <a:xfrm xmlns:a="http://schemas.openxmlformats.org/drawingml/2006/main">
            <a:off x="8115300" y="40957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Verify offers and match resources</a:t>
            </a:r>
          </a:p>
        </p:txBody>
      </p:sp>
      <p:sp>
        <p:nvSpPr>
          <p:cNvPr id="16" name="">
            <a:extLst xmlns:a="http://schemas.openxmlformats.org/drawingml/2006/main">
              <a:ext uri="{FF2B5EF4-FFF2-40B4-BE49-F238E27FC236}">
                <a16:creationId xmlns:a16="http://schemas.microsoft.com/office/drawing/2014/main" id="{FE25BD97-C54A-4E95-B111-D32208C64676}"/>
              </a:ext>
            </a:extLst>
          </p:cNvPr>
          <p:cNvSpPr>
            <a:spLocks xmlns:a="http://schemas.openxmlformats.org/drawingml/2006/main" noGrp="1"/>
          </p:cNvSpPr>
          <p:nvPr/>
        </p:nvSpPr>
        <p:spPr>
          <a:xfrm xmlns:a="http://schemas.openxmlformats.org/drawingml/2006/main">
            <a:off x="7677150" y="4800600"/>
            <a:ext cx="304800" cy="304800"/>
          </a:xfrm>
          <a:prstGeom xmlns:a="http://schemas.openxmlformats.org/drawingml/2006/main" prst="ellipse">
            <a:avLst/>
          </a:prstGeom>
          <a:solidFill xmlns:a="http://schemas.openxmlformats.org/drawingml/2006/main">
            <a:srgbClr val="D9B26F"/>
          </a:solidFill>
          <a:ln xmlns:a="http://schemas.openxmlformats.org/drawingml/2006/main" w="0">
            <a:solidFill>
              <a:srgbClr val="000000">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20242B"/>
                </a:solidFill>
                <a:latin typeface="Avenir Next"/>
                <a:ea typeface="Avenir Next"/>
                <a:cs typeface="Avenir Next"/>
              </a:defRPr>
            </a:pPr>
            <a:r>
              <a:rPr sz="1050" b="1">
                <a:solidFill>
                  <a:srgbClr val="20242B"/>
                </a:solidFill>
                <a:latin typeface="Avenir Next"/>
                <a:ea typeface="Avenir Next"/>
                <a:cs typeface="Avenir Next"/>
              </a:rPr>
              <a:t>5</a:t>
            </a:r>
          </a:p>
        </p:txBody>
      </p:sp>
      <p:sp>
        <p:nvSpPr>
          <p:cNvPr id="17" name="">
            <a:extLst xmlns:a="http://schemas.openxmlformats.org/drawingml/2006/main">
              <a:ext uri="{FF2B5EF4-FFF2-40B4-BE49-F238E27FC236}">
                <a16:creationId xmlns:a16="http://schemas.microsoft.com/office/drawing/2014/main" id="{AE748061-C1C8-4913-B436-3A8673D7AA01}"/>
              </a:ext>
            </a:extLst>
          </p:cNvPr>
          <p:cNvSpPr>
            <a:spLocks xmlns:a="http://schemas.openxmlformats.org/drawingml/2006/main" noGrp="1"/>
          </p:cNvSpPr>
          <p:nvPr/>
        </p:nvSpPr>
        <p:spPr>
          <a:xfrm xmlns:a="http://schemas.openxmlformats.org/drawingml/2006/main">
            <a:off x="8115300" y="4781550"/>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Approve route, alert, and audit</a:t>
            </a:r>
          </a:p>
        </p:txBody>
      </p:sp>
      <p:sp>
        <p:nvSpPr>
          <p:cNvPr id="18" name="">
            <a:extLst xmlns:a="http://schemas.openxmlformats.org/drawingml/2006/main">
              <a:ext uri="{FF2B5EF4-FFF2-40B4-BE49-F238E27FC236}">
                <a16:creationId xmlns:a16="http://schemas.microsoft.com/office/drawing/2014/main" id="{9647D697-A92E-4D3D-9288-4B2E446A76AF}"/>
              </a:ext>
            </a:extLst>
          </p:cNvPr>
          <p:cNvSpPr>
            <a:spLocks xmlns:a="http://schemas.openxmlformats.org/drawingml/2006/main" noGrp="1"/>
          </p:cNvSpPr>
          <p:nvPr/>
        </p:nvSpPr>
        <p:spPr>
          <a:xfrm xmlns:a="http://schemas.openxmlformats.org/drawingml/2006/main">
            <a:off x="7677150" y="5524500"/>
            <a:ext cx="3581400" cy="285750"/>
          </a:xfrm>
          <a:prstGeom xmlns:a="http://schemas.openxmlformats.org/drawingml/2006/main" prst="roundRect">
            <a:avLst>
              <a:gd name="adj" fmla="val 33333"/>
            </a:avLst>
          </a:prstGeom>
          <a:solidFill xmlns:a="http://schemas.openxmlformats.org/drawingml/2006/main">
            <a:srgbClr val="F4DDD5"/>
          </a:solidFill>
          <a:ln xmlns:a="http://schemas.openxmlformats.org/drawingml/2006/main" w="0">
            <a:solidFill>
              <a:srgbClr val="000000">
                <a:alpha val="0"/>
              </a:srgbClr>
            </a:solid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defRPr sz="975" b="1">
                <a:solidFill>
                  <a:srgbClr val="121722"/>
                </a:solidFill>
                <a:latin typeface="Avenir Next"/>
                <a:ea typeface="Avenir Next"/>
                <a:cs typeface="Avenir Next"/>
              </a:defRPr>
            </a:pPr>
            <a:r>
              <a:rPr sz="975" b="1">
                <a:solidFill>
                  <a:srgbClr val="121722"/>
                </a:solidFill>
                <a:latin typeface="Avenir Next"/>
                <a:ea typeface="Avenir Next"/>
                <a:cs typeface="Avenir Next"/>
              </a:rPr>
              <a:t>One decision record, from intake to authorization.</a:t>
            </a:r>
          </a:p>
        </p:txBody>
      </p:sp>
      <p:sp>
        <p:nvSpPr>
          <p:cNvPr id="19" name="">
            <a:extLst xmlns:a="http://schemas.openxmlformats.org/drawingml/2006/main">
              <a:ext uri="{FF2B5EF4-FFF2-40B4-BE49-F238E27FC236}">
                <a16:creationId xmlns:a16="http://schemas.microsoft.com/office/drawing/2014/main" id="{0E73C6E2-58C5-43CC-8684-38F9BAF56C8D}"/>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Live product screenshot captured from /operations</a:t>
            </a:r>
          </a:p>
        </p:txBody>
      </p:sp>
    </p:spTree>
    <p:extLst>
      <p:ext uri="{BB962C8B-B14F-4D97-AF65-F5344CB8AC3E}">
        <p14:creationId xmlns:p14="http://schemas.microsoft.com/office/powerpoint/2010/main" val="1542876810"/>
      </p:ext>
    </p:extLst>
  </p:cSld>
</p:sld>
</file>

<file path=ppt/slides/slide10.xml><?xml version="1.0" encoding="utf-8"?>
<p:sld xmlns:p="http://schemas.openxmlformats.org/presentationml/2006/main">
  <p:cSld>
    <p:bg>
      <p:bgPr>
        <a:solidFill xmlns:a="http://schemas.openxmlformats.org/drawingml/2006/main">
          <a:srgbClr val="2024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2FEA32-4CDD-47C7-88B6-270513A122DB}"/>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9B26F"/>
                </a:solidFill>
                <a:latin typeface="Avenir Next"/>
                <a:ea typeface="Avenir Next"/>
                <a:cs typeface="Avenir Next"/>
              </a:defRPr>
            </a:pPr>
            <a:r>
              <a:rPr sz="975" b="1">
                <a:solidFill>
                  <a:srgbClr val="D9B26F"/>
                </a:solidFill>
                <a:latin typeface="Avenir Next"/>
                <a:ea typeface="Avenir Next"/>
                <a:cs typeface="Avenir Next"/>
              </a:rPr>
              <a:t>LIVE DEMO</a:t>
            </a:r>
          </a:p>
        </p:txBody>
      </p:sp>
      <p:sp>
        <p:nvSpPr>
          <p:cNvPr id="2" name="">
            <a:extLst xmlns:a="http://schemas.openxmlformats.org/drawingml/2006/main">
              <a:ext uri="{FF2B5EF4-FFF2-40B4-BE49-F238E27FC236}">
                <a16:creationId xmlns:a16="http://schemas.microsoft.com/office/drawing/2014/main" id="{5464CE69-049E-499E-ACC9-314B941B4A8C}"/>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FFFFFF"/>
                </a:solidFill>
                <a:latin typeface="Avenir Next"/>
                <a:ea typeface="Avenir Next"/>
                <a:cs typeface="Avenir Next"/>
              </a:defRPr>
            </a:pPr>
            <a:r>
              <a:rPr sz="3450" b="1">
                <a:solidFill>
                  <a:srgbClr val="FFFFFF"/>
                </a:solidFill>
                <a:latin typeface="Avenir Next"/>
                <a:ea typeface="Avenir Next"/>
                <a:cs typeface="Avenir Next"/>
              </a:rPr>
              <a:t>The complete value story fits in two minutes.</a:t>
            </a:r>
          </a:p>
        </p:txBody>
      </p:sp>
      <p:sp>
        <p:nvSpPr>
          <p:cNvPr id="3" name="">
            <a:extLst xmlns:a="http://schemas.openxmlformats.org/drawingml/2006/main">
              <a:ext uri="{FF2B5EF4-FFF2-40B4-BE49-F238E27FC236}">
                <a16:creationId xmlns:a16="http://schemas.microsoft.com/office/drawing/2014/main" id="{9D140955-9BEA-4A1F-BBB3-665FBECB1D1E}"/>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4B5058"/>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F6D2F059-0EF7-41C2-8490-77BBD6071A72}"/>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B4C9E9DB-2E53-483F-BCDE-2F6CD9AF4466}"/>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10</a:t>
            </a:r>
          </a:p>
        </p:txBody>
      </p:sp>
      <p:sp>
        <p:nvSpPr>
          <p:cNvPr id="6" name="">
            <a:extLst xmlns:a="http://schemas.openxmlformats.org/drawingml/2006/main">
              <a:ext uri="{FF2B5EF4-FFF2-40B4-BE49-F238E27FC236}">
                <a16:creationId xmlns:a16="http://schemas.microsoft.com/office/drawing/2014/main" id="{AF8C54C8-BE83-42AE-B859-2C2603A44803}"/>
              </a:ext>
            </a:extLst>
          </p:cNvPr>
          <p:cNvSpPr>
            <a:spLocks xmlns:a="http://schemas.openxmlformats.org/drawingml/2006/main" noGrp="1"/>
          </p:cNvSpPr>
          <p:nvPr/>
        </p:nvSpPr>
        <p:spPr>
          <a:xfrm xmlns:a="http://schemas.openxmlformats.org/drawingml/2006/main">
            <a:off x="857250" y="3067050"/>
            <a:ext cx="10287000" cy="38100"/>
          </a:xfrm>
          <a:prstGeom xmlns:a="http://schemas.openxmlformats.org/drawingml/2006/main" prst="rect">
            <a:avLst/>
          </a:prstGeom>
          <a:solidFill xmlns:a="http://schemas.openxmlformats.org/drawingml/2006/main">
            <a:srgbClr val="5A6068"/>
          </a:solidFill>
          <a:ln xmlns:a="http://schemas.openxmlformats.org/drawingml/2006/main" w="0">
            <a:solidFill>
              <a:srgbClr val="000000">
                <a:alpha val="0"/>
              </a:srgbClr>
            </a:solidFill>
          </a:ln>
        </p:spPr>
      </p:sp>
      <p:sp>
        <p:nvSpPr>
          <p:cNvPr id="7" name="">
            <a:extLst xmlns:a="http://schemas.openxmlformats.org/drawingml/2006/main">
              <a:ext uri="{FF2B5EF4-FFF2-40B4-BE49-F238E27FC236}">
                <a16:creationId xmlns:a16="http://schemas.microsoft.com/office/drawing/2014/main" id="{DD1A189B-A71F-4F6D-B4D3-8A05C09E1915}"/>
              </a:ext>
            </a:extLst>
          </p:cNvPr>
          <p:cNvSpPr>
            <a:spLocks xmlns:a="http://schemas.openxmlformats.org/drawingml/2006/main" noGrp="1"/>
          </p:cNvSpPr>
          <p:nvPr/>
        </p:nvSpPr>
        <p:spPr>
          <a:xfrm xmlns:a="http://schemas.openxmlformats.org/drawingml/2006/main">
            <a:off x="99060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8" name="">
            <a:extLst xmlns:a="http://schemas.openxmlformats.org/drawingml/2006/main">
              <a:ext uri="{FF2B5EF4-FFF2-40B4-BE49-F238E27FC236}">
                <a16:creationId xmlns:a16="http://schemas.microsoft.com/office/drawing/2014/main" id="{EC6F21E2-9ABC-451D-8114-586A726DFD10}"/>
              </a:ext>
            </a:extLst>
          </p:cNvPr>
          <p:cNvSpPr>
            <a:spLocks xmlns:a="http://schemas.openxmlformats.org/drawingml/2006/main" noGrp="1"/>
          </p:cNvSpPr>
          <p:nvPr/>
        </p:nvSpPr>
        <p:spPr>
          <a:xfrm xmlns:a="http://schemas.openxmlformats.org/drawingml/2006/main">
            <a:off x="59055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0:00</a:t>
            </a:r>
          </a:p>
        </p:txBody>
      </p:sp>
      <p:sp>
        <p:nvSpPr>
          <p:cNvPr id="9" name="">
            <a:extLst xmlns:a="http://schemas.openxmlformats.org/drawingml/2006/main">
              <a:ext uri="{FF2B5EF4-FFF2-40B4-BE49-F238E27FC236}">
                <a16:creationId xmlns:a16="http://schemas.microsoft.com/office/drawing/2014/main" id="{B42E930D-9866-417F-8FC5-1AD339B7A470}"/>
              </a:ext>
            </a:extLst>
          </p:cNvPr>
          <p:cNvSpPr>
            <a:spLocks xmlns:a="http://schemas.openxmlformats.org/drawingml/2006/main" noGrp="1"/>
          </p:cNvSpPr>
          <p:nvPr/>
        </p:nvSpPr>
        <p:spPr>
          <a:xfrm xmlns:a="http://schemas.openxmlformats.org/drawingml/2006/main">
            <a:off x="59055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START</a:t>
            </a:r>
          </a:p>
        </p:txBody>
      </p:sp>
      <p:sp>
        <p:nvSpPr>
          <p:cNvPr id="10" name="">
            <a:extLst xmlns:a="http://schemas.openxmlformats.org/drawingml/2006/main">
              <a:ext uri="{FF2B5EF4-FFF2-40B4-BE49-F238E27FC236}">
                <a16:creationId xmlns:a16="http://schemas.microsoft.com/office/drawing/2014/main" id="{CC19F3A3-06C5-43C4-A107-2B07236C0317}"/>
              </a:ext>
            </a:extLst>
          </p:cNvPr>
          <p:cNvSpPr>
            <a:spLocks xmlns:a="http://schemas.openxmlformats.org/drawingml/2006/main" noGrp="1"/>
          </p:cNvSpPr>
          <p:nvPr/>
        </p:nvSpPr>
        <p:spPr>
          <a:xfrm xmlns:a="http://schemas.openxmlformats.org/drawingml/2006/main">
            <a:off x="59055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Choose a role and enter real inputs</a:t>
            </a:r>
          </a:p>
        </p:txBody>
      </p:sp>
      <p:sp>
        <p:nvSpPr>
          <p:cNvPr id="11" name="">
            <a:extLst xmlns:a="http://schemas.openxmlformats.org/drawingml/2006/main">
              <a:ext uri="{FF2B5EF4-FFF2-40B4-BE49-F238E27FC236}">
                <a16:creationId xmlns:a16="http://schemas.microsoft.com/office/drawing/2014/main" id="{05DAF0C5-0123-49E0-BE59-37F61E34833C}"/>
              </a:ext>
            </a:extLst>
          </p:cNvPr>
          <p:cNvSpPr>
            <a:spLocks xmlns:a="http://schemas.openxmlformats.org/drawingml/2006/main" noGrp="1"/>
          </p:cNvSpPr>
          <p:nvPr/>
        </p:nvSpPr>
        <p:spPr>
          <a:xfrm xmlns:a="http://schemas.openxmlformats.org/drawingml/2006/main">
            <a:off x="260985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12" name="">
            <a:extLst xmlns:a="http://schemas.openxmlformats.org/drawingml/2006/main">
              <a:ext uri="{FF2B5EF4-FFF2-40B4-BE49-F238E27FC236}">
                <a16:creationId xmlns:a16="http://schemas.microsoft.com/office/drawing/2014/main" id="{5ADBD051-21D7-46C2-B0CC-8FA80D5D9D01}"/>
              </a:ext>
            </a:extLst>
          </p:cNvPr>
          <p:cNvSpPr>
            <a:spLocks xmlns:a="http://schemas.openxmlformats.org/drawingml/2006/main" noGrp="1"/>
          </p:cNvSpPr>
          <p:nvPr/>
        </p:nvSpPr>
        <p:spPr>
          <a:xfrm xmlns:a="http://schemas.openxmlformats.org/drawingml/2006/main">
            <a:off x="220980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0:25</a:t>
            </a:r>
          </a:p>
        </p:txBody>
      </p:sp>
      <p:sp>
        <p:nvSpPr>
          <p:cNvPr id="13" name="">
            <a:extLst xmlns:a="http://schemas.openxmlformats.org/drawingml/2006/main">
              <a:ext uri="{FF2B5EF4-FFF2-40B4-BE49-F238E27FC236}">
                <a16:creationId xmlns:a16="http://schemas.microsoft.com/office/drawing/2014/main" id="{E4A3DAB4-88D6-43B4-902B-872E5C4EFB61}"/>
              </a:ext>
            </a:extLst>
          </p:cNvPr>
          <p:cNvSpPr>
            <a:spLocks xmlns:a="http://schemas.openxmlformats.org/drawingml/2006/main" noGrp="1"/>
          </p:cNvSpPr>
          <p:nvPr/>
        </p:nvSpPr>
        <p:spPr>
          <a:xfrm xmlns:a="http://schemas.openxmlformats.org/drawingml/2006/main">
            <a:off x="220980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MAP</a:t>
            </a:r>
          </a:p>
        </p:txBody>
      </p:sp>
      <p:sp>
        <p:nvSpPr>
          <p:cNvPr id="14" name="">
            <a:extLst xmlns:a="http://schemas.openxmlformats.org/drawingml/2006/main">
              <a:ext uri="{FF2B5EF4-FFF2-40B4-BE49-F238E27FC236}">
                <a16:creationId xmlns:a16="http://schemas.microsoft.com/office/drawing/2014/main" id="{41A65F7B-E10F-4710-A71F-2A5F23A44AFA}"/>
              </a:ext>
            </a:extLst>
          </p:cNvPr>
          <p:cNvSpPr>
            <a:spLocks xmlns:a="http://schemas.openxmlformats.org/drawingml/2006/main" noGrp="1"/>
          </p:cNvSpPr>
          <p:nvPr/>
        </p:nvSpPr>
        <p:spPr>
          <a:xfrm xmlns:a="http://schemas.openxmlformats.org/drawingml/2006/main">
            <a:off x="220980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Geocode the location and load weather</a:t>
            </a:r>
          </a:p>
        </p:txBody>
      </p:sp>
      <p:sp>
        <p:nvSpPr>
          <p:cNvPr id="15" name="">
            <a:extLst xmlns:a="http://schemas.openxmlformats.org/drawingml/2006/main">
              <a:ext uri="{FF2B5EF4-FFF2-40B4-BE49-F238E27FC236}">
                <a16:creationId xmlns:a16="http://schemas.microsoft.com/office/drawing/2014/main" id="{22C4EC84-D27B-4180-9D1A-CFC0B59CE868}"/>
              </a:ext>
            </a:extLst>
          </p:cNvPr>
          <p:cNvSpPr>
            <a:spLocks xmlns:a="http://schemas.openxmlformats.org/drawingml/2006/main" noGrp="1"/>
          </p:cNvSpPr>
          <p:nvPr/>
        </p:nvSpPr>
        <p:spPr>
          <a:xfrm xmlns:a="http://schemas.openxmlformats.org/drawingml/2006/main">
            <a:off x="422910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16" name="">
            <a:extLst xmlns:a="http://schemas.openxmlformats.org/drawingml/2006/main">
              <a:ext uri="{FF2B5EF4-FFF2-40B4-BE49-F238E27FC236}">
                <a16:creationId xmlns:a16="http://schemas.microsoft.com/office/drawing/2014/main" id="{0E2AB878-FD47-477F-8C61-EB80FCA606C6}"/>
              </a:ext>
            </a:extLst>
          </p:cNvPr>
          <p:cNvSpPr>
            <a:spLocks xmlns:a="http://schemas.openxmlformats.org/drawingml/2006/main" noGrp="1"/>
          </p:cNvSpPr>
          <p:nvPr/>
        </p:nvSpPr>
        <p:spPr>
          <a:xfrm xmlns:a="http://schemas.openxmlformats.org/drawingml/2006/main">
            <a:off x="382905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0:45</a:t>
            </a:r>
          </a:p>
        </p:txBody>
      </p:sp>
      <p:sp>
        <p:nvSpPr>
          <p:cNvPr id="17" name="">
            <a:extLst xmlns:a="http://schemas.openxmlformats.org/drawingml/2006/main">
              <a:ext uri="{FF2B5EF4-FFF2-40B4-BE49-F238E27FC236}">
                <a16:creationId xmlns:a16="http://schemas.microsoft.com/office/drawing/2014/main" id="{1ABD3462-5A2B-4884-A9D5-3D8062084099}"/>
              </a:ext>
            </a:extLst>
          </p:cNvPr>
          <p:cNvSpPr>
            <a:spLocks xmlns:a="http://schemas.openxmlformats.org/drawingml/2006/main" noGrp="1"/>
          </p:cNvSpPr>
          <p:nvPr/>
        </p:nvSpPr>
        <p:spPr>
          <a:xfrm xmlns:a="http://schemas.openxmlformats.org/drawingml/2006/main">
            <a:off x="382905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VERIFY</a:t>
            </a:r>
          </a:p>
        </p:txBody>
      </p:sp>
      <p:sp>
        <p:nvSpPr>
          <p:cNvPr id="18" name="">
            <a:extLst xmlns:a="http://schemas.openxmlformats.org/drawingml/2006/main">
              <a:ext uri="{FF2B5EF4-FFF2-40B4-BE49-F238E27FC236}">
                <a16:creationId xmlns:a16="http://schemas.microsoft.com/office/drawing/2014/main" id="{9F666984-915D-40C4-ADB5-E9B2DED0DF51}"/>
              </a:ext>
            </a:extLst>
          </p:cNvPr>
          <p:cNvSpPr>
            <a:spLocks xmlns:a="http://schemas.openxmlformats.org/drawingml/2006/main" noGrp="1"/>
          </p:cNvSpPr>
          <p:nvPr/>
        </p:nvSpPr>
        <p:spPr>
          <a:xfrm xmlns:a="http://schemas.openxmlformats.org/drawingml/2006/main">
            <a:off x="382905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Separate evidence from claims</a:t>
            </a:r>
          </a:p>
        </p:txBody>
      </p:sp>
      <p:sp>
        <p:nvSpPr>
          <p:cNvPr id="19" name="">
            <a:extLst xmlns:a="http://schemas.openxmlformats.org/drawingml/2006/main">
              <a:ext uri="{FF2B5EF4-FFF2-40B4-BE49-F238E27FC236}">
                <a16:creationId xmlns:a16="http://schemas.microsoft.com/office/drawing/2014/main" id="{1A79442F-3DEE-444F-929D-90A786A38F2E}"/>
              </a:ext>
            </a:extLst>
          </p:cNvPr>
          <p:cNvSpPr>
            <a:spLocks xmlns:a="http://schemas.openxmlformats.org/drawingml/2006/main" noGrp="1"/>
          </p:cNvSpPr>
          <p:nvPr/>
        </p:nvSpPr>
        <p:spPr>
          <a:xfrm xmlns:a="http://schemas.openxmlformats.org/drawingml/2006/main">
            <a:off x="584835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20" name="">
            <a:extLst xmlns:a="http://schemas.openxmlformats.org/drawingml/2006/main">
              <a:ext uri="{FF2B5EF4-FFF2-40B4-BE49-F238E27FC236}">
                <a16:creationId xmlns:a16="http://schemas.microsoft.com/office/drawing/2014/main" id="{50D803CC-F912-4E80-AC46-4BA1604AB04F}"/>
              </a:ext>
            </a:extLst>
          </p:cNvPr>
          <p:cNvSpPr>
            <a:spLocks xmlns:a="http://schemas.openxmlformats.org/drawingml/2006/main" noGrp="1"/>
          </p:cNvSpPr>
          <p:nvPr/>
        </p:nvSpPr>
        <p:spPr>
          <a:xfrm xmlns:a="http://schemas.openxmlformats.org/drawingml/2006/main">
            <a:off x="544830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1:05</a:t>
            </a:r>
          </a:p>
        </p:txBody>
      </p:sp>
      <p:sp>
        <p:nvSpPr>
          <p:cNvPr id="21" name="">
            <a:extLst xmlns:a="http://schemas.openxmlformats.org/drawingml/2006/main">
              <a:ext uri="{FF2B5EF4-FFF2-40B4-BE49-F238E27FC236}">
                <a16:creationId xmlns:a16="http://schemas.microsoft.com/office/drawing/2014/main" id="{6D86644A-0926-4492-BF0E-C18320106FBB}"/>
              </a:ext>
            </a:extLst>
          </p:cNvPr>
          <p:cNvSpPr>
            <a:spLocks xmlns:a="http://schemas.openxmlformats.org/drawingml/2006/main" noGrp="1"/>
          </p:cNvSpPr>
          <p:nvPr/>
        </p:nvSpPr>
        <p:spPr>
          <a:xfrm xmlns:a="http://schemas.openxmlformats.org/drawingml/2006/main">
            <a:off x="544830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ROUTE</a:t>
            </a:r>
          </a:p>
        </p:txBody>
      </p:sp>
      <p:sp>
        <p:nvSpPr>
          <p:cNvPr id="22" name="">
            <a:extLst xmlns:a="http://schemas.openxmlformats.org/drawingml/2006/main">
              <a:ext uri="{FF2B5EF4-FFF2-40B4-BE49-F238E27FC236}">
                <a16:creationId xmlns:a16="http://schemas.microsoft.com/office/drawing/2014/main" id="{367D15B0-74C8-4997-BCF2-42FE3927EEA7}"/>
              </a:ext>
            </a:extLst>
          </p:cNvPr>
          <p:cNvSpPr>
            <a:spLocks xmlns:a="http://schemas.openxmlformats.org/drawingml/2006/main" noGrp="1"/>
          </p:cNvSpPr>
          <p:nvPr/>
        </p:nvSpPr>
        <p:spPr>
          <a:xfrm xmlns:a="http://schemas.openxmlformats.org/drawingml/2006/main">
            <a:off x="544830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Select staging and response capacity</a:t>
            </a:r>
          </a:p>
        </p:txBody>
      </p:sp>
      <p:sp>
        <p:nvSpPr>
          <p:cNvPr id="23" name="">
            <a:extLst xmlns:a="http://schemas.openxmlformats.org/drawingml/2006/main">
              <a:ext uri="{FF2B5EF4-FFF2-40B4-BE49-F238E27FC236}">
                <a16:creationId xmlns:a16="http://schemas.microsoft.com/office/drawing/2014/main" id="{AF93E152-717F-458B-9685-BA7AA2CEB12C}"/>
              </a:ext>
            </a:extLst>
          </p:cNvPr>
          <p:cNvSpPr>
            <a:spLocks xmlns:a="http://schemas.openxmlformats.org/drawingml/2006/main" noGrp="1"/>
          </p:cNvSpPr>
          <p:nvPr/>
        </p:nvSpPr>
        <p:spPr>
          <a:xfrm xmlns:a="http://schemas.openxmlformats.org/drawingml/2006/main">
            <a:off x="746760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24" name="">
            <a:extLst xmlns:a="http://schemas.openxmlformats.org/drawingml/2006/main">
              <a:ext uri="{FF2B5EF4-FFF2-40B4-BE49-F238E27FC236}">
                <a16:creationId xmlns:a16="http://schemas.microsoft.com/office/drawing/2014/main" id="{0C467335-D80C-4C54-9B52-CB1B0B508C20}"/>
              </a:ext>
            </a:extLst>
          </p:cNvPr>
          <p:cNvSpPr>
            <a:spLocks xmlns:a="http://schemas.openxmlformats.org/drawingml/2006/main" noGrp="1"/>
          </p:cNvSpPr>
          <p:nvPr/>
        </p:nvSpPr>
        <p:spPr>
          <a:xfrm xmlns:a="http://schemas.openxmlformats.org/drawingml/2006/main">
            <a:off x="706755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1:28</a:t>
            </a:r>
          </a:p>
        </p:txBody>
      </p:sp>
      <p:sp>
        <p:nvSpPr>
          <p:cNvPr id="25" name="">
            <a:extLst xmlns:a="http://schemas.openxmlformats.org/drawingml/2006/main">
              <a:ext uri="{FF2B5EF4-FFF2-40B4-BE49-F238E27FC236}">
                <a16:creationId xmlns:a16="http://schemas.microsoft.com/office/drawing/2014/main" id="{DCB16144-84BB-4DAF-B728-C2D04C00D5EF}"/>
              </a:ext>
            </a:extLst>
          </p:cNvPr>
          <p:cNvSpPr>
            <a:spLocks xmlns:a="http://schemas.openxmlformats.org/drawingml/2006/main" noGrp="1"/>
          </p:cNvSpPr>
          <p:nvPr/>
        </p:nvSpPr>
        <p:spPr>
          <a:xfrm xmlns:a="http://schemas.openxmlformats.org/drawingml/2006/main">
            <a:off x="706755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ALERT</a:t>
            </a:r>
          </a:p>
        </p:txBody>
      </p:sp>
      <p:sp>
        <p:nvSpPr>
          <p:cNvPr id="26" name="">
            <a:extLst xmlns:a="http://schemas.openxmlformats.org/drawingml/2006/main">
              <a:ext uri="{FF2B5EF4-FFF2-40B4-BE49-F238E27FC236}">
                <a16:creationId xmlns:a16="http://schemas.microsoft.com/office/drawing/2014/main" id="{C9C1A534-F733-4C10-9AA1-05DC68A90D4A}"/>
              </a:ext>
            </a:extLst>
          </p:cNvPr>
          <p:cNvSpPr>
            <a:spLocks xmlns:a="http://schemas.openxmlformats.org/drawingml/2006/main" noGrp="1"/>
          </p:cNvSpPr>
          <p:nvPr/>
        </p:nvSpPr>
        <p:spPr>
          <a:xfrm xmlns:a="http://schemas.openxmlformats.org/drawingml/2006/main">
            <a:off x="706755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Review English and French guidance</a:t>
            </a:r>
          </a:p>
        </p:txBody>
      </p:sp>
      <p:sp>
        <p:nvSpPr>
          <p:cNvPr id="27" name="">
            <a:extLst xmlns:a="http://schemas.openxmlformats.org/drawingml/2006/main">
              <a:ext uri="{FF2B5EF4-FFF2-40B4-BE49-F238E27FC236}">
                <a16:creationId xmlns:a16="http://schemas.microsoft.com/office/drawing/2014/main" id="{F621A98A-079A-4E1A-8A94-F0768D7DE44D}"/>
              </a:ext>
            </a:extLst>
          </p:cNvPr>
          <p:cNvSpPr>
            <a:spLocks xmlns:a="http://schemas.openxmlformats.org/drawingml/2006/main" noGrp="1"/>
          </p:cNvSpPr>
          <p:nvPr/>
        </p:nvSpPr>
        <p:spPr>
          <a:xfrm xmlns:a="http://schemas.openxmlformats.org/drawingml/2006/main">
            <a:off x="9086850" y="2876550"/>
            <a:ext cx="400050" cy="400050"/>
          </a:xfrm>
          <a:prstGeom xmlns:a="http://schemas.openxmlformats.org/drawingml/2006/main" prst="ellipse">
            <a:avLst/>
          </a:prstGeom>
          <a:solidFill xmlns:a="http://schemas.openxmlformats.org/drawingml/2006/main">
            <a:srgbClr val="C65D3B"/>
          </a:solidFill>
          <a:ln xmlns:a="http://schemas.openxmlformats.org/drawingml/2006/main" w="0">
            <a:solidFill>
              <a:srgbClr val="000000">
                <a:alpha val="0"/>
              </a:srgbClr>
            </a:solidFill>
          </a:ln>
        </p:spPr>
      </p:sp>
      <p:sp>
        <p:nvSpPr>
          <p:cNvPr id="28" name="">
            <a:extLst xmlns:a="http://schemas.openxmlformats.org/drawingml/2006/main">
              <a:ext uri="{FF2B5EF4-FFF2-40B4-BE49-F238E27FC236}">
                <a16:creationId xmlns:a16="http://schemas.microsoft.com/office/drawing/2014/main" id="{20E904F4-893B-4B0E-A0EA-B35AE795D8B2}"/>
              </a:ext>
            </a:extLst>
          </p:cNvPr>
          <p:cNvSpPr>
            <a:spLocks xmlns:a="http://schemas.openxmlformats.org/drawingml/2006/main" noGrp="1"/>
          </p:cNvSpPr>
          <p:nvPr/>
        </p:nvSpPr>
        <p:spPr>
          <a:xfrm xmlns:a="http://schemas.openxmlformats.org/drawingml/2006/main">
            <a:off x="868680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1:45</a:t>
            </a:r>
          </a:p>
        </p:txBody>
      </p:sp>
      <p:sp>
        <p:nvSpPr>
          <p:cNvPr id="29" name="">
            <a:extLst xmlns:a="http://schemas.openxmlformats.org/drawingml/2006/main">
              <a:ext uri="{FF2B5EF4-FFF2-40B4-BE49-F238E27FC236}">
                <a16:creationId xmlns:a16="http://schemas.microsoft.com/office/drawing/2014/main" id="{19A75373-44C1-4C9B-B83A-47FFE03418C2}"/>
              </a:ext>
            </a:extLst>
          </p:cNvPr>
          <p:cNvSpPr>
            <a:spLocks xmlns:a="http://schemas.openxmlformats.org/drawingml/2006/main" noGrp="1"/>
          </p:cNvSpPr>
          <p:nvPr/>
        </p:nvSpPr>
        <p:spPr>
          <a:xfrm xmlns:a="http://schemas.openxmlformats.org/drawingml/2006/main">
            <a:off x="868680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AUDIT</a:t>
            </a:r>
          </a:p>
        </p:txBody>
      </p:sp>
      <p:sp>
        <p:nvSpPr>
          <p:cNvPr id="30" name="">
            <a:extLst xmlns:a="http://schemas.openxmlformats.org/drawingml/2006/main">
              <a:ext uri="{FF2B5EF4-FFF2-40B4-BE49-F238E27FC236}">
                <a16:creationId xmlns:a16="http://schemas.microsoft.com/office/drawing/2014/main" id="{2D00D9AB-5C42-4F2B-B67C-581C1BE6A441}"/>
              </a:ext>
            </a:extLst>
          </p:cNvPr>
          <p:cNvSpPr>
            <a:spLocks xmlns:a="http://schemas.openxmlformats.org/drawingml/2006/main" noGrp="1"/>
          </p:cNvSpPr>
          <p:nvPr/>
        </p:nvSpPr>
        <p:spPr>
          <a:xfrm xmlns:a="http://schemas.openxmlformats.org/drawingml/2006/main">
            <a:off x="868680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Show recommendations and approvals</a:t>
            </a:r>
          </a:p>
        </p:txBody>
      </p:sp>
      <p:sp>
        <p:nvSpPr>
          <p:cNvPr id="31" name="">
            <a:extLst xmlns:a="http://schemas.openxmlformats.org/drawingml/2006/main">
              <a:ext uri="{FF2B5EF4-FFF2-40B4-BE49-F238E27FC236}">
                <a16:creationId xmlns:a16="http://schemas.microsoft.com/office/drawing/2014/main" id="{D57CA004-981B-43BD-A191-7110A202D8D7}"/>
              </a:ext>
            </a:extLst>
          </p:cNvPr>
          <p:cNvSpPr>
            <a:spLocks xmlns:a="http://schemas.openxmlformats.org/drawingml/2006/main" noGrp="1"/>
          </p:cNvSpPr>
          <p:nvPr/>
        </p:nvSpPr>
        <p:spPr>
          <a:xfrm xmlns:a="http://schemas.openxmlformats.org/drawingml/2006/main">
            <a:off x="10706100" y="2876550"/>
            <a:ext cx="400050" cy="400050"/>
          </a:xfrm>
          <a:prstGeom xmlns:a="http://schemas.openxmlformats.org/drawingml/2006/main" prst="ellipse">
            <a:avLst/>
          </a:prstGeom>
          <a:solidFill xmlns:a="http://schemas.openxmlformats.org/drawingml/2006/main">
            <a:srgbClr val="D9B26F"/>
          </a:solidFill>
          <a:ln xmlns:a="http://schemas.openxmlformats.org/drawingml/2006/main" w="0">
            <a:solidFill>
              <a:srgbClr val="000000">
                <a:alpha val="0"/>
              </a:srgbClr>
            </a:solidFill>
          </a:ln>
        </p:spPr>
      </p:sp>
      <p:sp>
        <p:nvSpPr>
          <p:cNvPr id="32" name="">
            <a:extLst xmlns:a="http://schemas.openxmlformats.org/drawingml/2006/main">
              <a:ext uri="{FF2B5EF4-FFF2-40B4-BE49-F238E27FC236}">
                <a16:creationId xmlns:a16="http://schemas.microsoft.com/office/drawing/2014/main" id="{B1098C0B-5827-4209-AED5-238898DD2B32}"/>
              </a:ext>
            </a:extLst>
          </p:cNvPr>
          <p:cNvSpPr>
            <a:spLocks xmlns:a="http://schemas.openxmlformats.org/drawingml/2006/main" noGrp="1"/>
          </p:cNvSpPr>
          <p:nvPr/>
        </p:nvSpPr>
        <p:spPr>
          <a:xfrm xmlns:a="http://schemas.openxmlformats.org/drawingml/2006/main">
            <a:off x="10306050" y="2381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B26F"/>
                </a:solidFill>
                <a:latin typeface="Avenir Next"/>
                <a:ea typeface="Avenir Next"/>
                <a:cs typeface="Avenir Next"/>
              </a:defRPr>
            </a:pPr>
            <a:r>
              <a:rPr sz="1050" b="1">
                <a:solidFill>
                  <a:srgbClr val="D9B26F"/>
                </a:solidFill>
                <a:latin typeface="Avenir Next"/>
                <a:ea typeface="Avenir Next"/>
                <a:cs typeface="Avenir Next"/>
              </a:rPr>
              <a:t>2:00</a:t>
            </a:r>
          </a:p>
        </p:txBody>
      </p:sp>
      <p:sp>
        <p:nvSpPr>
          <p:cNvPr id="33" name="">
            <a:extLst xmlns:a="http://schemas.openxmlformats.org/drawingml/2006/main">
              <a:ext uri="{FF2B5EF4-FFF2-40B4-BE49-F238E27FC236}">
                <a16:creationId xmlns:a16="http://schemas.microsoft.com/office/drawing/2014/main" id="{F8F50BE5-0A6F-4FEB-8478-4DA55B1C8EF5}"/>
              </a:ext>
            </a:extLst>
          </p:cNvPr>
          <p:cNvSpPr>
            <a:spLocks xmlns:a="http://schemas.openxmlformats.org/drawingml/2006/main" noGrp="1"/>
          </p:cNvSpPr>
          <p:nvPr/>
        </p:nvSpPr>
        <p:spPr>
          <a:xfrm xmlns:a="http://schemas.openxmlformats.org/drawingml/2006/main">
            <a:off x="10306050" y="3524250"/>
            <a:ext cx="1200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CLOSE</a:t>
            </a:r>
          </a:p>
        </p:txBody>
      </p:sp>
      <p:sp>
        <p:nvSpPr>
          <p:cNvPr id="34" name="">
            <a:extLst xmlns:a="http://schemas.openxmlformats.org/drawingml/2006/main">
              <a:ext uri="{FF2B5EF4-FFF2-40B4-BE49-F238E27FC236}">
                <a16:creationId xmlns:a16="http://schemas.microsoft.com/office/drawing/2014/main" id="{85D2E8F9-BEB0-4E57-8936-49F71312C33E}"/>
              </a:ext>
            </a:extLst>
          </p:cNvPr>
          <p:cNvSpPr>
            <a:spLocks xmlns:a="http://schemas.openxmlformats.org/drawingml/2006/main" noGrp="1"/>
          </p:cNvSpPr>
          <p:nvPr/>
        </p:nvSpPr>
        <p:spPr>
          <a:xfrm xmlns:a="http://schemas.openxmlformats.org/drawingml/2006/main">
            <a:off x="10306050" y="3829050"/>
            <a:ext cx="1200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C8CCD2"/>
                </a:solidFill>
                <a:latin typeface="Avenir Next"/>
                <a:ea typeface="Avenir Next"/>
                <a:cs typeface="Avenir Next"/>
              </a:defRPr>
            </a:pPr>
            <a:r>
              <a:rPr sz="1125" b="0">
                <a:solidFill>
                  <a:srgbClr val="C8CCD2"/>
                </a:solidFill>
                <a:latin typeface="Avenir Next"/>
                <a:ea typeface="Avenir Next"/>
                <a:cs typeface="Avenir Next"/>
              </a:rPr>
              <a:t>Verified, routed, human-authorized</a:t>
            </a:r>
          </a:p>
        </p:txBody>
      </p:sp>
      <p:sp>
        <p:nvSpPr>
          <p:cNvPr id="35" name="">
            <a:extLst xmlns:a="http://schemas.openxmlformats.org/drawingml/2006/main">
              <a:ext uri="{FF2B5EF4-FFF2-40B4-BE49-F238E27FC236}">
                <a16:creationId xmlns:a16="http://schemas.microsoft.com/office/drawing/2014/main" id="{242F639B-514F-4702-A0E1-9FAECD621D3D}"/>
              </a:ext>
            </a:extLst>
          </p:cNvPr>
          <p:cNvSpPr>
            <a:spLocks xmlns:a="http://schemas.openxmlformats.org/drawingml/2006/main" noGrp="1"/>
          </p:cNvSpPr>
          <p:nvPr/>
        </p:nvSpPr>
        <p:spPr>
          <a:xfrm xmlns:a="http://schemas.openxmlformats.org/drawingml/2006/main">
            <a:off x="1847850" y="5067300"/>
            <a:ext cx="8496300" cy="704850"/>
          </a:xfrm>
          <a:prstGeom xmlns:a="http://schemas.openxmlformats.org/drawingml/2006/main" prst="roundRect">
            <a:avLst>
              <a:gd name="adj" fmla="val 13514"/>
            </a:avLst>
          </a:prstGeom>
          <a:solidFill xmlns:a="http://schemas.openxmlformats.org/drawingml/2006/main">
            <a:srgbClr val="2B3038"/>
          </a:solidFill>
          <a:ln xmlns:a="http://schemas.openxmlformats.org/drawingml/2006/main" w="9525">
            <a:solidFill>
              <a:srgbClr val="4A5059"/>
            </a:solidFill>
          </a:ln>
        </p:spPr>
        <p:txBody>
          <a:bodyPr xmlns:a="http://schemas.openxmlformats.org/drawingml/2006/main" lIns="171450" tIns="171450" rIns="171450" bIns="171450" anchor="ctr">
            <a:normAutofit fontScale="88812"/>
          </a:bodyPr>
          <a:lstStyle xmlns:a="http://schemas.openxmlformats.org/drawingml/2006/main"/>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Demo point of view: a municipal or NGO duty officer coordinating one evolving flood incident.</a:t>
            </a:r>
          </a:p>
        </p:txBody>
      </p:sp>
      <p:sp>
        <p:nvSpPr>
          <p:cNvPr id="36" name="">
            <a:extLst xmlns:a="http://schemas.openxmlformats.org/drawingml/2006/main">
              <a:ext uri="{FF2B5EF4-FFF2-40B4-BE49-F238E27FC236}">
                <a16:creationId xmlns:a16="http://schemas.microsoft.com/office/drawing/2014/main" id="{0CCBE99A-A5C3-4B32-8A36-02DCE002F1C7}"/>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A9ADB4"/>
                </a:solidFill>
                <a:latin typeface="Avenir Next"/>
                <a:ea typeface="Avenir Next"/>
                <a:cs typeface="Avenir Next"/>
              </a:defRPr>
            </a:pPr>
            <a:r>
              <a:rPr sz="675" b="0">
                <a:solidFill>
                  <a:srgbClr val="A9ADB4"/>
                </a:solidFill>
                <a:latin typeface="Avenir Next"/>
                <a:ea typeface="Avenir Next"/>
                <a:cs typeface="Avenir Next"/>
              </a:rPr>
              <a:t>Detailed script in docs/DEMO_SCRIPT.md</a:t>
            </a:r>
          </a:p>
        </p:txBody>
      </p:sp>
    </p:spTree>
    <p:extLst>
      <p:ext uri="{BB962C8B-B14F-4D97-AF65-F5344CB8AC3E}">
        <p14:creationId xmlns:p14="http://schemas.microsoft.com/office/powerpoint/2010/main" val="1238091439"/>
      </p:ext>
    </p:extLst>
  </p:cSld>
</p:sld>
</file>

<file path=ppt/slides/slide1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94A3C7-2398-4A6A-9D93-A0D248705BB7}"/>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C65D3B"/>
                </a:solidFill>
                <a:latin typeface="Avenir Next"/>
                <a:ea typeface="Avenir Next"/>
                <a:cs typeface="Avenir Next"/>
              </a:defRPr>
            </a:pPr>
            <a:r>
              <a:rPr sz="975" b="1">
                <a:solidFill>
                  <a:srgbClr val="C65D3B"/>
                </a:solidFill>
                <a:latin typeface="Avenir Next"/>
                <a:ea typeface="Avenir Next"/>
                <a:cs typeface="Avenir Next"/>
              </a:rPr>
              <a:t>AI AND DATA</a:t>
            </a:r>
          </a:p>
        </p:txBody>
      </p:sp>
      <p:sp>
        <p:nvSpPr>
          <p:cNvPr id="2" name="">
            <a:extLst xmlns:a="http://schemas.openxmlformats.org/drawingml/2006/main">
              <a:ext uri="{FF2B5EF4-FFF2-40B4-BE49-F238E27FC236}">
                <a16:creationId xmlns:a16="http://schemas.microsoft.com/office/drawing/2014/main" id="{3D8909C4-252B-4871-A866-E7D616F39219}"/>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121722"/>
                </a:solidFill>
                <a:latin typeface="Avenir Next"/>
                <a:ea typeface="Avenir Next"/>
                <a:cs typeface="Avenir Next"/>
              </a:defRPr>
            </a:pPr>
            <a:r>
              <a:rPr sz="3450" b="1">
                <a:solidFill>
                  <a:srgbClr val="121722"/>
                </a:solidFill>
                <a:latin typeface="Avenir Next"/>
                <a:ea typeface="Avenir Next"/>
                <a:cs typeface="Avenir Next"/>
              </a:rPr>
              <a:t>AI accelerates judgment without replacing it.</a:t>
            </a:r>
          </a:p>
        </p:txBody>
      </p:sp>
      <p:sp>
        <p:nvSpPr>
          <p:cNvPr id="3" name="">
            <a:extLst xmlns:a="http://schemas.openxmlformats.org/drawingml/2006/main">
              <a:ext uri="{FF2B5EF4-FFF2-40B4-BE49-F238E27FC236}">
                <a16:creationId xmlns:a16="http://schemas.microsoft.com/office/drawing/2014/main" id="{0F6D44D4-7784-43FA-8A24-08E9E49B6E03}"/>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D5D7D3"/>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1D3C94FC-DC74-401C-A753-7AE8451A622F}"/>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B8567631-8292-4769-B0ED-23B4039BBB88}"/>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526075"/>
                </a:solidFill>
                <a:latin typeface="Avenir Next"/>
                <a:ea typeface="Avenir Next"/>
                <a:cs typeface="Avenir Next"/>
              </a:defRPr>
            </a:pPr>
            <a:r>
              <a:rPr sz="750" b="1">
                <a:solidFill>
                  <a:srgbClr val="526075"/>
                </a:solidFill>
                <a:latin typeface="Avenir Next"/>
                <a:ea typeface="Avenir Next"/>
                <a:cs typeface="Avenir Next"/>
              </a:rPr>
              <a:t>11</a:t>
            </a:r>
          </a:p>
        </p:txBody>
      </p:sp>
      <p:sp>
        <p:nvSpPr>
          <p:cNvPr id="6" name="">
            <a:extLst xmlns:a="http://schemas.openxmlformats.org/drawingml/2006/main">
              <a:ext uri="{FF2B5EF4-FFF2-40B4-BE49-F238E27FC236}">
                <a16:creationId xmlns:a16="http://schemas.microsoft.com/office/drawing/2014/main" id="{A828765A-9F25-4B72-A2E9-B6BDAEC6CF4E}"/>
              </a:ext>
            </a:extLst>
          </p:cNvPr>
          <p:cNvSpPr>
            <a:spLocks xmlns:a="http://schemas.openxmlformats.org/drawingml/2006/main" noGrp="1"/>
          </p:cNvSpPr>
          <p:nvPr/>
        </p:nvSpPr>
        <p:spPr>
          <a:xfrm xmlns:a="http://schemas.openxmlformats.org/drawingml/2006/main">
            <a:off x="552450" y="2000250"/>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ACTIVE RESPONSE</a:t>
            </a:r>
          </a:p>
        </p:txBody>
      </p:sp>
      <p:sp>
        <p:nvSpPr>
          <p:cNvPr id="7" name="">
            <a:extLst xmlns:a="http://schemas.openxmlformats.org/drawingml/2006/main">
              <a:ext uri="{FF2B5EF4-FFF2-40B4-BE49-F238E27FC236}">
                <a16:creationId xmlns:a16="http://schemas.microsoft.com/office/drawing/2014/main" id="{F5203653-3A7B-4219-9E22-005D580A3BEF}"/>
              </a:ext>
            </a:extLst>
          </p:cNvPr>
          <p:cNvSpPr>
            <a:spLocks xmlns:a="http://schemas.openxmlformats.org/drawingml/2006/main" noGrp="1"/>
          </p:cNvSpPr>
          <p:nvPr/>
        </p:nvSpPr>
        <p:spPr>
          <a:xfrm xmlns:a="http://schemas.openxmlformats.org/drawingml/2006/main">
            <a:off x="552450" y="2305050"/>
            <a:ext cx="4953000" cy="2628900"/>
          </a:xfrm>
          <a:prstGeom xmlns:a="http://schemas.openxmlformats.org/drawingml/2006/main" prst="roundRect">
            <a:avLst>
              <a:gd name="adj" fmla="val 3623"/>
            </a:avLst>
          </a:prstGeom>
          <a:solidFill xmlns:a="http://schemas.openxmlformats.org/drawingml/2006/main">
            <a:srgbClr val="FFFFFF"/>
          </a:solidFill>
          <a:ln xmlns:a="http://schemas.openxmlformats.org/drawingml/2006/main" w="9525">
            <a:solidFill>
              <a:srgbClr val="E4E5E2"/>
            </a:solidFill>
          </a:ln>
        </p:spPr>
      </p:sp>
      <p:sp>
        <p:nvSpPr>
          <p:cNvPr id="8" name="">
            <a:extLst xmlns:a="http://schemas.openxmlformats.org/drawingml/2006/main">
              <a:ext uri="{FF2B5EF4-FFF2-40B4-BE49-F238E27FC236}">
                <a16:creationId xmlns:a16="http://schemas.microsoft.com/office/drawing/2014/main" id="{577401F5-00B7-4D68-B7C1-1CD270245E17}"/>
              </a:ext>
            </a:extLst>
          </p:cNvPr>
          <p:cNvSpPr>
            <a:spLocks xmlns:a="http://schemas.openxmlformats.org/drawingml/2006/main" noGrp="1"/>
          </p:cNvSpPr>
          <p:nvPr/>
        </p:nvSpPr>
        <p:spPr>
          <a:xfrm xmlns:a="http://schemas.openxmlformats.org/drawingml/2006/main">
            <a:off x="800100" y="25717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Resident and community reports</a:t>
            </a:r>
          </a:p>
        </p:txBody>
      </p:sp>
      <p:sp>
        <p:nvSpPr>
          <p:cNvPr id="9" name="">
            <a:extLst xmlns:a="http://schemas.openxmlformats.org/drawingml/2006/main">
              <a:ext uri="{FF2B5EF4-FFF2-40B4-BE49-F238E27FC236}">
                <a16:creationId xmlns:a16="http://schemas.microsoft.com/office/drawing/2014/main" id="{F34AA26E-2EFA-4098-A0D9-4B834AC5723E}"/>
              </a:ext>
            </a:extLst>
          </p:cNvPr>
          <p:cNvSpPr>
            <a:spLocks xmlns:a="http://schemas.openxmlformats.org/drawingml/2006/main" noGrp="1"/>
          </p:cNvSpPr>
          <p:nvPr/>
        </p:nvSpPr>
        <p:spPr>
          <a:xfrm xmlns:a="http://schemas.openxmlformats.org/drawingml/2006/main">
            <a:off x="4171950" y="25717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Current evidence</a:t>
            </a:r>
          </a:p>
        </p:txBody>
      </p:sp>
      <p:sp>
        <p:nvSpPr>
          <p:cNvPr id="10" name="">
            <a:extLst xmlns:a="http://schemas.openxmlformats.org/drawingml/2006/main">
              <a:ext uri="{FF2B5EF4-FFF2-40B4-BE49-F238E27FC236}">
                <a16:creationId xmlns:a16="http://schemas.microsoft.com/office/drawing/2014/main" id="{C59E359D-3A2B-4338-8927-E8C966CF0F5E}"/>
              </a:ext>
            </a:extLst>
          </p:cNvPr>
          <p:cNvSpPr>
            <a:spLocks xmlns:a="http://schemas.openxmlformats.org/drawingml/2006/main" noGrp="1"/>
          </p:cNvSpPr>
          <p:nvPr/>
        </p:nvSpPr>
        <p:spPr>
          <a:xfrm xmlns:a="http://schemas.openxmlformats.org/drawingml/2006/main">
            <a:off x="800100" y="3067050"/>
            <a:ext cx="443865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1" name="">
            <a:extLst xmlns:a="http://schemas.openxmlformats.org/drawingml/2006/main">
              <a:ext uri="{FF2B5EF4-FFF2-40B4-BE49-F238E27FC236}">
                <a16:creationId xmlns:a16="http://schemas.microsoft.com/office/drawing/2014/main" id="{4D0BC5BB-CF4D-4CC4-B0CA-2475640614CF}"/>
              </a:ext>
            </a:extLst>
          </p:cNvPr>
          <p:cNvSpPr>
            <a:spLocks xmlns:a="http://schemas.openxmlformats.org/drawingml/2006/main" noGrp="1"/>
          </p:cNvSpPr>
          <p:nvPr/>
        </p:nvSpPr>
        <p:spPr>
          <a:xfrm xmlns:a="http://schemas.openxmlformats.org/drawingml/2006/main">
            <a:off x="800100" y="3276600"/>
            <a:ext cx="3238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Nominatim, Open-Meteo, Overpass, OSRM</a:t>
            </a:r>
          </a:p>
        </p:txBody>
      </p:sp>
      <p:sp>
        <p:nvSpPr>
          <p:cNvPr id="12" name="">
            <a:extLst xmlns:a="http://schemas.openxmlformats.org/drawingml/2006/main">
              <a:ext uri="{FF2B5EF4-FFF2-40B4-BE49-F238E27FC236}">
                <a16:creationId xmlns:a16="http://schemas.microsoft.com/office/drawing/2014/main" id="{02D8BB09-53B1-482A-AC71-B023BED58115}"/>
              </a:ext>
            </a:extLst>
          </p:cNvPr>
          <p:cNvSpPr>
            <a:spLocks xmlns:a="http://schemas.openxmlformats.org/drawingml/2006/main" noGrp="1"/>
          </p:cNvSpPr>
          <p:nvPr/>
        </p:nvSpPr>
        <p:spPr>
          <a:xfrm xmlns:a="http://schemas.openxmlformats.org/drawingml/2006/main">
            <a:off x="4171950" y="327660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Live services</a:t>
            </a:r>
          </a:p>
        </p:txBody>
      </p:sp>
      <p:sp>
        <p:nvSpPr>
          <p:cNvPr id="13" name="">
            <a:extLst xmlns:a="http://schemas.openxmlformats.org/drawingml/2006/main">
              <a:ext uri="{FF2B5EF4-FFF2-40B4-BE49-F238E27FC236}">
                <a16:creationId xmlns:a16="http://schemas.microsoft.com/office/drawing/2014/main" id="{88760661-441A-4DCC-9E4C-627908752353}"/>
              </a:ext>
            </a:extLst>
          </p:cNvPr>
          <p:cNvSpPr>
            <a:spLocks xmlns:a="http://schemas.openxmlformats.org/drawingml/2006/main" noGrp="1"/>
          </p:cNvSpPr>
          <p:nvPr/>
        </p:nvSpPr>
        <p:spPr>
          <a:xfrm xmlns:a="http://schemas.openxmlformats.org/drawingml/2006/main">
            <a:off x="800100" y="3771900"/>
            <a:ext cx="4438650" cy="9525"/>
          </a:xfrm>
          <a:prstGeom xmlns:a="http://schemas.openxmlformats.org/drawingml/2006/main" prst="rect">
            <a:avLst/>
          </a:prstGeom>
          <a:solidFill xmlns:a="http://schemas.openxmlformats.org/drawingml/2006/main">
            <a:srgbClr val="E4E5E2"/>
          </a:solidFill>
          <a:ln xmlns:a="http://schemas.openxmlformats.org/drawingml/2006/main" w="0">
            <a:solidFill>
              <a:srgbClr val="000000">
                <a:alpha val="0"/>
              </a:srgbClr>
            </a:solidFill>
          </a:ln>
        </p:spPr>
      </p:sp>
      <p:sp>
        <p:nvSpPr>
          <p:cNvPr id="14" name="">
            <a:extLst xmlns:a="http://schemas.openxmlformats.org/drawingml/2006/main">
              <a:ext uri="{FF2B5EF4-FFF2-40B4-BE49-F238E27FC236}">
                <a16:creationId xmlns:a16="http://schemas.microsoft.com/office/drawing/2014/main" id="{FBAFFDDA-007A-4426-9A01-3B382E1AB616}"/>
              </a:ext>
            </a:extLst>
          </p:cNvPr>
          <p:cNvSpPr>
            <a:spLocks xmlns:a="http://schemas.openxmlformats.org/drawingml/2006/main" noGrp="1"/>
          </p:cNvSpPr>
          <p:nvPr/>
        </p:nvSpPr>
        <p:spPr>
          <a:xfrm xmlns:a="http://schemas.openxmlformats.org/drawingml/2006/main">
            <a:off x="800100" y="3981450"/>
            <a:ext cx="3238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21722"/>
                </a:solidFill>
                <a:latin typeface="Avenir Next"/>
                <a:ea typeface="Avenir Next"/>
                <a:cs typeface="Avenir Next"/>
              </a:defRPr>
            </a:pPr>
            <a:r>
              <a:rPr sz="1350" b="1">
                <a:solidFill>
                  <a:srgbClr val="121722"/>
                </a:solidFill>
                <a:latin typeface="Avenir Next"/>
                <a:ea typeface="Avenir Next"/>
                <a:cs typeface="Avenir Next"/>
              </a:rPr>
              <a:t>Gemini 3.5 Flash or rules fallback</a:t>
            </a:r>
          </a:p>
        </p:txBody>
      </p:sp>
      <p:sp>
        <p:nvSpPr>
          <p:cNvPr id="15" name="">
            <a:extLst xmlns:a="http://schemas.openxmlformats.org/drawingml/2006/main">
              <a:ext uri="{FF2B5EF4-FFF2-40B4-BE49-F238E27FC236}">
                <a16:creationId xmlns:a16="http://schemas.microsoft.com/office/drawing/2014/main" id="{5922DDD4-2998-44C1-87DA-059B2489C3C7}"/>
              </a:ext>
            </a:extLst>
          </p:cNvPr>
          <p:cNvSpPr>
            <a:spLocks xmlns:a="http://schemas.openxmlformats.org/drawingml/2006/main" noGrp="1"/>
          </p:cNvSpPr>
          <p:nvPr/>
        </p:nvSpPr>
        <p:spPr>
          <a:xfrm xmlns:a="http://schemas.openxmlformats.org/drawingml/2006/main">
            <a:off x="4171950" y="39814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90278"/>
          </a:bodyPr>
          <a:lstStyle xmlns:a="http://schemas.openxmlformats.org/drawingml/2006/main"/>
          <a:p xmlns:a="http://schemas.openxmlformats.org/drawingml/2006/main">
            <a:pPr algn="r">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Structured assessment</a:t>
            </a:r>
          </a:p>
        </p:txBody>
      </p:sp>
      <p:sp>
        <p:nvSpPr>
          <p:cNvPr id="16" name="">
            <a:extLst xmlns:a="http://schemas.openxmlformats.org/drawingml/2006/main">
              <a:ext uri="{FF2B5EF4-FFF2-40B4-BE49-F238E27FC236}">
                <a16:creationId xmlns:a16="http://schemas.microsoft.com/office/drawing/2014/main" id="{3DE7C0EF-595A-4027-9DC5-C1C8DB181660}"/>
              </a:ext>
            </a:extLst>
          </p:cNvPr>
          <p:cNvSpPr>
            <a:spLocks xmlns:a="http://schemas.openxmlformats.org/drawingml/2006/main" noGrp="1"/>
          </p:cNvSpPr>
          <p:nvPr/>
        </p:nvSpPr>
        <p:spPr>
          <a:xfrm xmlns:a="http://schemas.openxmlformats.org/drawingml/2006/main">
            <a:off x="2152650" y="5219700"/>
            <a:ext cx="1752600" cy="457200"/>
          </a:xfrm>
          <a:prstGeom xmlns:a="http://schemas.openxmlformats.org/drawingml/2006/main" prst="roundRect">
            <a:avLst>
              <a:gd name="adj" fmla="val 20833"/>
            </a:avLst>
          </a:prstGeom>
          <a:solidFill xmlns:a="http://schemas.openxmlformats.org/drawingml/2006/main">
            <a:srgbClr val="20242B"/>
          </a:solidFill>
          <a:ln xmlns:a="http://schemas.openxmlformats.org/drawingml/2006/main" w="0">
            <a:solidFill>
              <a:srgbClr val="000000">
                <a:alpha val="0"/>
              </a:srgbClr>
            </a:solidFill>
          </a:ln>
        </p:spPr>
        <p:txBody>
          <a:bodyPr xmlns:a="http://schemas.openxmlformats.org/drawingml/2006/main" lIns="76200" tIns="76200" rIns="76200" bIns="76200" anchor="ctr">
            <a:normAutofit fontScale="100000"/>
          </a:bodyPr>
          <a:lstStyle xmlns:a="http://schemas.openxmlformats.org/drawingml/2006/main"/>
          <a:p xmlns:a="http://schemas.openxmlformats.org/drawingml/2006/main">
            <a:pPr algn="ctr">
              <a:defRPr sz="900" b="1">
                <a:solidFill>
                  <a:srgbClr val="FFFFFF"/>
                </a:solidFill>
                <a:latin typeface="Avenir Next"/>
                <a:ea typeface="Avenir Next"/>
                <a:cs typeface="Avenir Next"/>
              </a:defRPr>
            </a:pPr>
            <a:r>
              <a:rPr sz="900" b="1">
                <a:solidFill>
                  <a:srgbClr val="FFFFFF"/>
                </a:solidFill>
                <a:latin typeface="Avenir Next"/>
                <a:ea typeface="Avenir Next"/>
                <a:cs typeface="Avenir Next"/>
              </a:rPr>
              <a:t>HUMAN AUTHORIZATION</a:t>
            </a:r>
          </a:p>
        </p:txBody>
      </p:sp>
      <p:sp>
        <p:nvSpPr>
          <p:cNvPr id="17" name="">
            <a:extLst xmlns:a="http://schemas.openxmlformats.org/drawingml/2006/main">
              <a:ext uri="{FF2B5EF4-FFF2-40B4-BE49-F238E27FC236}">
                <a16:creationId xmlns:a16="http://schemas.microsoft.com/office/drawing/2014/main" id="{FA4186B2-E431-4D91-BE61-A14D385C9C42}"/>
              </a:ext>
            </a:extLst>
          </p:cNvPr>
          <p:cNvSpPr>
            <a:spLocks xmlns:a="http://schemas.openxmlformats.org/drawingml/2006/main" noGrp="1"/>
          </p:cNvSpPr>
          <p:nvPr/>
        </p:nvSpPr>
        <p:spPr>
          <a:xfrm xmlns:a="http://schemas.openxmlformats.org/drawingml/2006/main">
            <a:off x="6076950" y="2019300"/>
            <a:ext cx="19050" cy="3657600"/>
          </a:xfrm>
          <a:prstGeom xmlns:a="http://schemas.openxmlformats.org/drawingml/2006/main" prst="rect">
            <a:avLst/>
          </a:prstGeom>
          <a:solidFill xmlns:a="http://schemas.openxmlformats.org/drawingml/2006/main">
            <a:srgbClr val="C65D3B"/>
          </a:solidFill>
          <a:ln xmlns:a="http://schemas.openxmlformats.org/drawingml/2006/main" w="0">
            <a:solidFill>
              <a:srgbClr val="000000">
                <a:alpha val="0"/>
              </a:srgbClr>
            </a:solidFill>
          </a:ln>
        </p:spPr>
      </p:sp>
      <p:sp>
        <p:nvSpPr>
          <p:cNvPr id="18" name="">
            <a:extLst xmlns:a="http://schemas.openxmlformats.org/drawingml/2006/main">
              <a:ext uri="{FF2B5EF4-FFF2-40B4-BE49-F238E27FC236}">
                <a16:creationId xmlns:a16="http://schemas.microsoft.com/office/drawing/2014/main" id="{E85F20AE-137E-4737-858A-A96245A50E8B}"/>
              </a:ext>
            </a:extLst>
          </p:cNvPr>
          <p:cNvSpPr>
            <a:spLocks xmlns:a="http://schemas.openxmlformats.org/drawingml/2006/main" noGrp="1"/>
          </p:cNvSpPr>
          <p:nvPr/>
        </p:nvSpPr>
        <p:spPr>
          <a:xfrm xmlns:a="http://schemas.openxmlformats.org/drawingml/2006/main">
            <a:off x="6572250" y="2000250"/>
            <a:ext cx="476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C65D3B"/>
                </a:solidFill>
                <a:latin typeface="Avenir Next"/>
                <a:ea typeface="Avenir Next"/>
                <a:cs typeface="Avenir Next"/>
              </a:defRPr>
            </a:pPr>
            <a:r>
              <a:rPr sz="900" b="1">
                <a:solidFill>
                  <a:srgbClr val="C65D3B"/>
                </a:solidFill>
                <a:latin typeface="Avenir Next"/>
                <a:ea typeface="Avenir Next"/>
                <a:cs typeface="Avenir Next"/>
              </a:rPr>
              <a:t>PREPAREDNESS CONTEXT</a:t>
            </a:r>
          </a:p>
        </p:txBody>
      </p:sp>
      <p:sp>
        <p:nvSpPr>
          <p:cNvPr id="19" name="">
            <a:extLst xmlns:a="http://schemas.openxmlformats.org/drawingml/2006/main">
              <a:ext uri="{FF2B5EF4-FFF2-40B4-BE49-F238E27FC236}">
                <a16:creationId xmlns:a16="http://schemas.microsoft.com/office/drawing/2014/main" id="{0FC84F0D-7C12-4B60-AF97-8A5F94FA3285}"/>
              </a:ext>
            </a:extLst>
          </p:cNvPr>
          <p:cNvSpPr>
            <a:spLocks xmlns:a="http://schemas.openxmlformats.org/drawingml/2006/main" noGrp="1"/>
          </p:cNvSpPr>
          <p:nvPr/>
        </p:nvSpPr>
        <p:spPr>
          <a:xfrm xmlns:a="http://schemas.openxmlformats.org/drawingml/2006/main">
            <a:off x="6572250" y="234315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21722"/>
                </a:solidFill>
                <a:latin typeface="Avenir Next"/>
                <a:ea typeface="Avenir Next"/>
                <a:cs typeface="Avenir Next"/>
              </a:defRPr>
            </a:pPr>
            <a:r>
              <a:rPr sz="1950" b="1">
                <a:solidFill>
                  <a:srgbClr val="121722"/>
                </a:solidFill>
                <a:latin typeface="Avenir Next"/>
                <a:ea typeface="Avenir Next"/>
                <a:cs typeface="Avenir Next"/>
              </a:rPr>
              <a:t>169,109</a:t>
            </a:r>
          </a:p>
        </p:txBody>
      </p:sp>
      <p:sp>
        <p:nvSpPr>
          <p:cNvPr id="20" name="">
            <a:extLst xmlns:a="http://schemas.openxmlformats.org/drawingml/2006/main">
              <a:ext uri="{FF2B5EF4-FFF2-40B4-BE49-F238E27FC236}">
                <a16:creationId xmlns:a16="http://schemas.microsoft.com/office/drawing/2014/main" id="{E0D115F2-FD4A-4964-A13D-6EB2E1F322BD}"/>
              </a:ext>
            </a:extLst>
          </p:cNvPr>
          <p:cNvSpPr>
            <a:spLocks xmlns:a="http://schemas.openxmlformats.org/drawingml/2006/main" noGrp="1"/>
          </p:cNvSpPr>
          <p:nvPr/>
        </p:nvSpPr>
        <p:spPr>
          <a:xfrm xmlns:a="http://schemas.openxmlformats.org/drawingml/2006/main">
            <a:off x="7905750" y="2381250"/>
            <a:ext cx="3219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historical disaster reports</a:t>
            </a:r>
          </a:p>
        </p:txBody>
      </p:sp>
      <p:sp>
        <p:nvSpPr>
          <p:cNvPr id="21" name="">
            <a:extLst xmlns:a="http://schemas.openxmlformats.org/drawingml/2006/main">
              <a:ext uri="{FF2B5EF4-FFF2-40B4-BE49-F238E27FC236}">
                <a16:creationId xmlns:a16="http://schemas.microsoft.com/office/drawing/2014/main" id="{A1AB46C0-F6D2-4DE6-9DF0-0B7AE964CEFB}"/>
              </a:ext>
            </a:extLst>
          </p:cNvPr>
          <p:cNvSpPr>
            <a:spLocks xmlns:a="http://schemas.openxmlformats.org/drawingml/2006/main" noGrp="1"/>
          </p:cNvSpPr>
          <p:nvPr/>
        </p:nvSpPr>
        <p:spPr>
          <a:xfrm xmlns:a="http://schemas.openxmlformats.org/drawingml/2006/main">
            <a:off x="6572250" y="29337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21722"/>
                </a:solidFill>
                <a:latin typeface="Avenir Next"/>
                <a:ea typeface="Avenir Next"/>
                <a:cs typeface="Avenir Next"/>
              </a:defRPr>
            </a:pPr>
            <a:r>
              <a:rPr sz="1950" b="1">
                <a:solidFill>
                  <a:srgbClr val="121722"/>
                </a:solidFill>
                <a:latin typeface="Avenir Next"/>
                <a:ea typeface="Avenir Next"/>
                <a:cs typeface="Avenir Next"/>
              </a:rPr>
              <a:t>58</a:t>
            </a:r>
          </a:p>
        </p:txBody>
      </p:sp>
      <p:sp>
        <p:nvSpPr>
          <p:cNvPr id="22" name="">
            <a:extLst xmlns:a="http://schemas.openxmlformats.org/drawingml/2006/main">
              <a:ext uri="{FF2B5EF4-FFF2-40B4-BE49-F238E27FC236}">
                <a16:creationId xmlns:a16="http://schemas.microsoft.com/office/drawing/2014/main" id="{40180AEA-7FAB-494C-9538-5FF017CFC559}"/>
              </a:ext>
            </a:extLst>
          </p:cNvPr>
          <p:cNvSpPr>
            <a:spLocks xmlns:a="http://schemas.openxmlformats.org/drawingml/2006/main" noGrp="1"/>
          </p:cNvSpPr>
          <p:nvPr/>
        </p:nvSpPr>
        <p:spPr>
          <a:xfrm xmlns:a="http://schemas.openxmlformats.org/drawingml/2006/main">
            <a:off x="7905750" y="2971800"/>
            <a:ext cx="3219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Toronto climate variables</a:t>
            </a:r>
          </a:p>
        </p:txBody>
      </p:sp>
      <p:sp>
        <p:nvSpPr>
          <p:cNvPr id="23" name="">
            <a:extLst xmlns:a="http://schemas.openxmlformats.org/drawingml/2006/main">
              <a:ext uri="{FF2B5EF4-FFF2-40B4-BE49-F238E27FC236}">
                <a16:creationId xmlns:a16="http://schemas.microsoft.com/office/drawing/2014/main" id="{9F820203-BB8F-4596-8D2B-D2DF2E7506F5}"/>
              </a:ext>
            </a:extLst>
          </p:cNvPr>
          <p:cNvSpPr>
            <a:spLocks xmlns:a="http://schemas.openxmlformats.org/drawingml/2006/main" noGrp="1"/>
          </p:cNvSpPr>
          <p:nvPr/>
        </p:nvSpPr>
        <p:spPr>
          <a:xfrm xmlns:a="http://schemas.openxmlformats.org/drawingml/2006/main">
            <a:off x="6572250" y="352425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21722"/>
                </a:solidFill>
                <a:latin typeface="Avenir Next"/>
                <a:ea typeface="Avenir Next"/>
                <a:cs typeface="Avenir Next"/>
              </a:defRPr>
            </a:pPr>
            <a:r>
              <a:rPr sz="1950" b="1">
                <a:solidFill>
                  <a:srgbClr val="121722"/>
                </a:solidFill>
                <a:latin typeface="Avenir Next"/>
                <a:ea typeface="Avenir Next"/>
                <a:cs typeface="Avenir Next"/>
              </a:rPr>
              <a:t>1,023</a:t>
            </a:r>
          </a:p>
        </p:txBody>
      </p:sp>
      <p:sp>
        <p:nvSpPr>
          <p:cNvPr id="24" name="">
            <a:extLst xmlns:a="http://schemas.openxmlformats.org/drawingml/2006/main">
              <a:ext uri="{FF2B5EF4-FFF2-40B4-BE49-F238E27FC236}">
                <a16:creationId xmlns:a16="http://schemas.microsoft.com/office/drawing/2014/main" id="{E23D8C42-A93E-481D-93BF-ED66777C7D5A}"/>
              </a:ext>
            </a:extLst>
          </p:cNvPr>
          <p:cNvSpPr>
            <a:spLocks xmlns:a="http://schemas.openxmlformats.org/drawingml/2006/main" noGrp="1"/>
          </p:cNvSpPr>
          <p:nvPr/>
        </p:nvSpPr>
        <p:spPr>
          <a:xfrm xmlns:a="http://schemas.openxmlformats.org/drawingml/2006/main">
            <a:off x="7905750" y="3562350"/>
            <a:ext cx="3219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resident survey responses</a:t>
            </a:r>
          </a:p>
        </p:txBody>
      </p:sp>
      <p:sp>
        <p:nvSpPr>
          <p:cNvPr id="25" name="">
            <a:extLst xmlns:a="http://schemas.openxmlformats.org/drawingml/2006/main">
              <a:ext uri="{FF2B5EF4-FFF2-40B4-BE49-F238E27FC236}">
                <a16:creationId xmlns:a16="http://schemas.microsoft.com/office/drawing/2014/main" id="{73DB8678-BD93-41F5-99DB-9B3F913F715B}"/>
              </a:ext>
            </a:extLst>
          </p:cNvPr>
          <p:cNvSpPr>
            <a:spLocks xmlns:a="http://schemas.openxmlformats.org/drawingml/2006/main" noGrp="1"/>
          </p:cNvSpPr>
          <p:nvPr/>
        </p:nvSpPr>
        <p:spPr>
          <a:xfrm xmlns:a="http://schemas.openxmlformats.org/drawingml/2006/main">
            <a:off x="6572250" y="41148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21722"/>
                </a:solidFill>
                <a:latin typeface="Avenir Next"/>
                <a:ea typeface="Avenir Next"/>
                <a:cs typeface="Avenir Next"/>
              </a:defRPr>
            </a:pPr>
            <a:r>
              <a:rPr sz="1950" b="1">
                <a:solidFill>
                  <a:srgbClr val="121722"/>
                </a:solidFill>
                <a:latin typeface="Avenir Next"/>
                <a:ea typeface="Avenir Next"/>
                <a:cs typeface="Avenir Next"/>
              </a:rPr>
              <a:t>54</a:t>
            </a:r>
          </a:p>
        </p:txBody>
      </p:sp>
      <p:sp>
        <p:nvSpPr>
          <p:cNvPr id="26" name="">
            <a:extLst xmlns:a="http://schemas.openxmlformats.org/drawingml/2006/main">
              <a:ext uri="{FF2B5EF4-FFF2-40B4-BE49-F238E27FC236}">
                <a16:creationId xmlns:a16="http://schemas.microsoft.com/office/drawing/2014/main" id="{B6605FBC-3A5A-4E95-951E-7062E1281FA4}"/>
              </a:ext>
            </a:extLst>
          </p:cNvPr>
          <p:cNvSpPr>
            <a:spLocks xmlns:a="http://schemas.openxmlformats.org/drawingml/2006/main" noGrp="1"/>
          </p:cNvSpPr>
          <p:nvPr/>
        </p:nvSpPr>
        <p:spPr>
          <a:xfrm xmlns:a="http://schemas.openxmlformats.org/drawingml/2006/main">
            <a:off x="7905750" y="4152900"/>
            <a:ext cx="3219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African country indicator files</a:t>
            </a:r>
          </a:p>
        </p:txBody>
      </p:sp>
      <p:sp>
        <p:nvSpPr>
          <p:cNvPr id="27" name="">
            <a:extLst xmlns:a="http://schemas.openxmlformats.org/drawingml/2006/main">
              <a:ext uri="{FF2B5EF4-FFF2-40B4-BE49-F238E27FC236}">
                <a16:creationId xmlns:a16="http://schemas.microsoft.com/office/drawing/2014/main" id="{D86F8065-CC7F-400C-91DF-0068D3337B79}"/>
              </a:ext>
            </a:extLst>
          </p:cNvPr>
          <p:cNvSpPr>
            <a:spLocks xmlns:a="http://schemas.openxmlformats.org/drawingml/2006/main" noGrp="1"/>
          </p:cNvSpPr>
          <p:nvPr/>
        </p:nvSpPr>
        <p:spPr>
          <a:xfrm xmlns:a="http://schemas.openxmlformats.org/drawingml/2006/main">
            <a:off x="6572250" y="470535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21722"/>
                </a:solidFill>
                <a:latin typeface="Avenir Next"/>
                <a:ea typeface="Avenir Next"/>
                <a:cs typeface="Avenir Next"/>
              </a:defRPr>
            </a:pPr>
            <a:r>
              <a:rPr sz="1950" b="1">
                <a:solidFill>
                  <a:srgbClr val="121722"/>
                </a:solidFill>
                <a:latin typeface="Avenir Next"/>
                <a:ea typeface="Avenir Next"/>
                <a:cs typeface="Avenir Next"/>
              </a:rPr>
              <a:t>5</a:t>
            </a:r>
          </a:p>
        </p:txBody>
      </p:sp>
      <p:sp>
        <p:nvSpPr>
          <p:cNvPr id="28" name="">
            <a:extLst xmlns:a="http://schemas.openxmlformats.org/drawingml/2006/main">
              <a:ext uri="{FF2B5EF4-FFF2-40B4-BE49-F238E27FC236}">
                <a16:creationId xmlns:a16="http://schemas.microsoft.com/office/drawing/2014/main" id="{E68A456A-A6F8-4C5D-85F7-1FC1263FB65C}"/>
              </a:ext>
            </a:extLst>
          </p:cNvPr>
          <p:cNvSpPr>
            <a:spLocks xmlns:a="http://schemas.openxmlformats.org/drawingml/2006/main" noGrp="1"/>
          </p:cNvSpPr>
          <p:nvPr/>
        </p:nvSpPr>
        <p:spPr>
          <a:xfrm xmlns:a="http://schemas.openxmlformats.org/drawingml/2006/main">
            <a:off x="7905750" y="4743450"/>
            <a:ext cx="3219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26075"/>
                </a:solidFill>
                <a:latin typeface="Avenir Next"/>
                <a:ea typeface="Avenir Next"/>
                <a:cs typeface="Avenir Next"/>
              </a:defRPr>
            </a:pPr>
            <a:r>
              <a:rPr sz="1275" b="0">
                <a:solidFill>
                  <a:srgbClr val="526075"/>
                </a:solidFill>
                <a:latin typeface="Avenir Next"/>
                <a:ea typeface="Avenir Next"/>
                <a:cs typeface="Avenir Next"/>
              </a:rPr>
              <a:t>Montréal emissions sectors</a:t>
            </a:r>
          </a:p>
        </p:txBody>
      </p:sp>
      <p:sp>
        <p:nvSpPr>
          <p:cNvPr id="29" name="">
            <a:extLst xmlns:a="http://schemas.openxmlformats.org/drawingml/2006/main">
              <a:ext uri="{FF2B5EF4-FFF2-40B4-BE49-F238E27FC236}">
                <a16:creationId xmlns:a16="http://schemas.microsoft.com/office/drawing/2014/main" id="{EA4E4FB7-C732-4743-88AE-AA67464A9168}"/>
              </a:ext>
            </a:extLst>
          </p:cNvPr>
          <p:cNvSpPr>
            <a:spLocks xmlns:a="http://schemas.openxmlformats.org/drawingml/2006/main" noGrp="1"/>
          </p:cNvSpPr>
          <p:nvPr/>
        </p:nvSpPr>
        <p:spPr>
          <a:xfrm xmlns:a="http://schemas.openxmlformats.org/drawingml/2006/main">
            <a:off x="6572250" y="5314950"/>
            <a:ext cx="4552950" cy="361950"/>
          </a:xfrm>
          <a:prstGeom xmlns:a="http://schemas.openxmlformats.org/drawingml/2006/main" prst="roundRect">
            <a:avLst>
              <a:gd name="adj" fmla="val 26316"/>
            </a:avLst>
          </a:prstGeom>
          <a:solidFill xmlns:a="http://schemas.openxmlformats.org/drawingml/2006/main">
            <a:srgbClr val="F4DDD5"/>
          </a:solidFill>
          <a:ln xmlns:a="http://schemas.openxmlformats.org/drawingml/2006/main" w="0">
            <a:solidFill>
              <a:srgbClr val="000000">
                <a:alpha val="0"/>
              </a:srgbClr>
            </a:solidFill>
          </a:ln>
        </p:spPr>
        <p:txBody>
          <a:bodyPr xmlns:a="http://schemas.openxmlformats.org/drawingml/2006/main" lIns="47625" tIns="47625" rIns="47625" bIns="47625" anchor="ctr">
            <a:normAutofit fontScale="100000"/>
          </a:bodyPr>
          <a:lstStyle xmlns:a="http://schemas.openxmlformats.org/drawingml/2006/main"/>
          <a:p xmlns:a="http://schemas.openxmlformats.org/drawingml/2006/main">
            <a:pPr algn="ctr">
              <a:defRPr sz="1050" b="1">
                <a:solidFill>
                  <a:srgbClr val="121722"/>
                </a:solidFill>
                <a:latin typeface="Avenir Next"/>
                <a:ea typeface="Avenir Next"/>
                <a:cs typeface="Avenir Next"/>
              </a:defRPr>
            </a:pPr>
            <a:r>
              <a:rPr sz="1050" b="1">
                <a:solidFill>
                  <a:srgbClr val="121722"/>
                </a:solidFill>
                <a:latin typeface="Avenir Next"/>
                <a:ea typeface="Avenir Next"/>
                <a:cs typeface="Avenir Next"/>
              </a:rPr>
              <a:t>Preparedness data does not decide active triage.</a:t>
            </a:r>
          </a:p>
        </p:txBody>
      </p:sp>
      <p:sp>
        <p:nvSpPr>
          <p:cNvPr id="30" name="">
            <a:extLst xmlns:a="http://schemas.openxmlformats.org/drawingml/2006/main">
              <a:ext uri="{FF2B5EF4-FFF2-40B4-BE49-F238E27FC236}">
                <a16:creationId xmlns:a16="http://schemas.microsoft.com/office/drawing/2014/main" id="{28C55C59-B440-4A5B-9BF1-63152BD8897B}"/>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7A8492"/>
                </a:solidFill>
                <a:latin typeface="Avenir Next"/>
                <a:ea typeface="Avenir Next"/>
                <a:cs typeface="Avenir Next"/>
              </a:defRPr>
            </a:pPr>
            <a:r>
              <a:rPr sz="675" b="0">
                <a:solidFill>
                  <a:srgbClr val="7A8492"/>
                </a:solidFill>
                <a:latin typeface="Avenir Next"/>
                <a:ea typeface="Avenir Next"/>
                <a:cs typeface="Avenir Next"/>
              </a:rPr>
              <a:t>docs/DATA_AUDIT.md and implemented service adapters</a:t>
            </a:r>
          </a:p>
        </p:txBody>
      </p:sp>
    </p:spTree>
    <p:extLst>
      <p:ext uri="{BB962C8B-B14F-4D97-AF65-F5344CB8AC3E}">
        <p14:creationId xmlns:p14="http://schemas.microsoft.com/office/powerpoint/2010/main" val="2118758359"/>
      </p:ext>
    </p:extLst>
  </p:cSld>
</p:sld>
</file>

<file path=ppt/slides/slide12.xml><?xml version="1.0" encoding="utf-8"?>
<p:sld xmlns:p="http://schemas.openxmlformats.org/presentationml/2006/main">
  <p:cSld>
    <p:bg>
      <p:bgPr>
        <a:solidFill xmlns:a="http://schemas.openxmlformats.org/drawingml/2006/main">
          <a:srgbClr val="20242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E2C616-3B10-44DB-8A3A-6F436ADFEDA7}"/>
              </a:ext>
            </a:extLst>
          </p:cNvPr>
          <p:cNvSpPr>
            <a:spLocks xmlns:a="http://schemas.openxmlformats.org/drawingml/2006/main" noGrp="1"/>
          </p:cNvSpPr>
          <p:nvPr/>
        </p:nvSpPr>
        <p:spPr>
          <a:xfrm xmlns:a="http://schemas.openxmlformats.org/drawingml/2006/main">
            <a:off x="552450" y="3810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9B26F"/>
                </a:solidFill>
                <a:latin typeface="Avenir Next"/>
                <a:ea typeface="Avenir Next"/>
                <a:cs typeface="Avenir Next"/>
              </a:defRPr>
            </a:pPr>
            <a:r>
              <a:rPr sz="975" b="1">
                <a:solidFill>
                  <a:srgbClr val="D9B26F"/>
                </a:solidFill>
                <a:latin typeface="Avenir Next"/>
                <a:ea typeface="Avenir Next"/>
                <a:cs typeface="Avenir Next"/>
              </a:rPr>
              <a:t>SOCIETAL VALUE</a:t>
            </a:r>
          </a:p>
        </p:txBody>
      </p:sp>
      <p:sp>
        <p:nvSpPr>
          <p:cNvPr id="2" name="">
            <a:extLst xmlns:a="http://schemas.openxmlformats.org/drawingml/2006/main">
              <a:ext uri="{FF2B5EF4-FFF2-40B4-BE49-F238E27FC236}">
                <a16:creationId xmlns:a16="http://schemas.microsoft.com/office/drawing/2014/main" id="{D6F726AF-FCB7-4DF8-B4D3-0261E569C6CE}"/>
              </a:ext>
            </a:extLst>
          </p:cNvPr>
          <p:cNvSpPr>
            <a:spLocks xmlns:a="http://schemas.openxmlformats.org/drawingml/2006/main" noGrp="1"/>
          </p:cNvSpPr>
          <p:nvPr/>
        </p:nvSpPr>
        <p:spPr>
          <a:xfrm xmlns:a="http://schemas.openxmlformats.org/drawingml/2006/main">
            <a:off x="552450" y="704850"/>
            <a:ext cx="109537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FFFFFF"/>
                </a:solidFill>
                <a:latin typeface="Avenir Next"/>
                <a:ea typeface="Avenir Next"/>
                <a:cs typeface="Avenir Next"/>
              </a:defRPr>
            </a:pPr>
            <a:r>
              <a:rPr sz="3000" b="1">
                <a:solidFill>
                  <a:srgbClr val="FFFFFF"/>
                </a:solidFill>
                <a:latin typeface="Avenir Next"/>
                <a:ea typeface="Avenir Next"/>
                <a:cs typeface="Avenir Next"/>
              </a:rPr>
              <a:t>AEGIS strengthens resilience before, during, and after a flood.</a:t>
            </a:r>
          </a:p>
        </p:txBody>
      </p:sp>
      <p:sp>
        <p:nvSpPr>
          <p:cNvPr id="3" name="">
            <a:extLst xmlns:a="http://schemas.openxmlformats.org/drawingml/2006/main">
              <a:ext uri="{FF2B5EF4-FFF2-40B4-BE49-F238E27FC236}">
                <a16:creationId xmlns:a16="http://schemas.microsoft.com/office/drawing/2014/main" id="{AC6224E1-2E5D-43FC-AEA1-973A01FE06AE}"/>
              </a:ext>
            </a:extLst>
          </p:cNvPr>
          <p:cNvSpPr>
            <a:spLocks xmlns:a="http://schemas.openxmlformats.org/drawingml/2006/main" noGrp="1"/>
          </p:cNvSpPr>
          <p:nvPr/>
        </p:nvSpPr>
        <p:spPr>
          <a:xfrm xmlns:a="http://schemas.openxmlformats.org/drawingml/2006/main">
            <a:off x="552450" y="6343650"/>
            <a:ext cx="11087100" cy="9525"/>
          </a:xfrm>
          <a:prstGeom xmlns:a="http://schemas.openxmlformats.org/drawingml/2006/main" prst="rect">
            <a:avLst/>
          </a:prstGeom>
          <a:solidFill xmlns:a="http://schemas.openxmlformats.org/drawingml/2006/main">
            <a:srgbClr val="4B5058"/>
          </a:solidFill>
          <a:ln xmlns:a="http://schemas.openxmlformats.org/drawingml/2006/main" w="0">
            <a:solidFill>
              <a:srgbClr val="000000">
                <a:alpha val="0"/>
              </a:srgbClr>
            </a:solidFill>
          </a:ln>
        </p:spPr>
      </p:sp>
      <p:sp>
        <p:nvSpPr>
          <p:cNvPr id="4" name="">
            <a:extLst xmlns:a="http://schemas.openxmlformats.org/drawingml/2006/main">
              <a:ext uri="{FF2B5EF4-FFF2-40B4-BE49-F238E27FC236}">
                <a16:creationId xmlns:a16="http://schemas.microsoft.com/office/drawing/2014/main" id="{1E79EFCB-6C4D-4D0E-AA47-8172D4AFD364}"/>
              </a:ext>
            </a:extLst>
          </p:cNvPr>
          <p:cNvSpPr>
            <a:spLocks xmlns:a="http://schemas.openxmlformats.org/drawingml/2006/main" noGrp="1"/>
          </p:cNvSpPr>
          <p:nvPr/>
        </p:nvSpPr>
        <p:spPr>
          <a:xfrm xmlns:a="http://schemas.openxmlformats.org/drawingml/2006/main">
            <a:off x="552450" y="64579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AEGIS</a:t>
            </a:r>
          </a:p>
        </p:txBody>
      </p:sp>
      <p:sp>
        <p:nvSpPr>
          <p:cNvPr id="5" name="">
            <a:extLst xmlns:a="http://schemas.openxmlformats.org/drawingml/2006/main">
              <a:ext uri="{FF2B5EF4-FFF2-40B4-BE49-F238E27FC236}">
                <a16:creationId xmlns:a16="http://schemas.microsoft.com/office/drawing/2014/main" id="{625A9AFF-E9DF-4885-A937-E3D2665EBB2D}"/>
              </a:ext>
            </a:extLst>
          </p:cNvPr>
          <p:cNvSpPr>
            <a:spLocks xmlns:a="http://schemas.openxmlformats.org/drawingml/2006/main" noGrp="1"/>
          </p:cNvSpPr>
          <p:nvPr/>
        </p:nvSpPr>
        <p:spPr>
          <a:xfrm xmlns:a="http://schemas.openxmlformats.org/drawingml/2006/main">
            <a:off x="11068050" y="645795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750" b="1">
                <a:solidFill>
                  <a:srgbClr val="BFC3C9"/>
                </a:solidFill>
                <a:latin typeface="Avenir Next"/>
                <a:ea typeface="Avenir Next"/>
                <a:cs typeface="Avenir Next"/>
              </a:defRPr>
            </a:pPr>
            <a:r>
              <a:rPr sz="750" b="1">
                <a:solidFill>
                  <a:srgbClr val="BFC3C9"/>
                </a:solidFill>
                <a:latin typeface="Avenir Next"/>
                <a:ea typeface="Avenir Next"/>
                <a:cs typeface="Avenir Next"/>
              </a:rPr>
              <a:t>12</a:t>
            </a:r>
          </a:p>
        </p:txBody>
      </p:sp>
      <p:sp>
        <p:nvSpPr>
          <p:cNvPr id="6" name="">
            <a:extLst xmlns:a="http://schemas.openxmlformats.org/drawingml/2006/main">
              <a:ext uri="{FF2B5EF4-FFF2-40B4-BE49-F238E27FC236}">
                <a16:creationId xmlns:a16="http://schemas.microsoft.com/office/drawing/2014/main" id="{08D3B4E2-62C8-4330-A3A0-6B661C9ECC10}"/>
              </a:ext>
            </a:extLst>
          </p:cNvPr>
          <p:cNvSpPr>
            <a:spLocks xmlns:a="http://schemas.openxmlformats.org/drawingml/2006/main" noGrp="1"/>
          </p:cNvSpPr>
          <p:nvPr/>
        </p:nvSpPr>
        <p:spPr>
          <a:xfrm xmlns:a="http://schemas.openxmlformats.org/drawingml/2006/main">
            <a:off x="552450" y="209550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D9B26F"/>
                </a:solidFill>
                <a:latin typeface="Avenir Next"/>
                <a:ea typeface="Avenir Next"/>
                <a:cs typeface="Avenir Next"/>
              </a:defRPr>
            </a:pPr>
            <a:r>
              <a:rPr sz="900" b="1">
                <a:solidFill>
                  <a:srgbClr val="D9B26F"/>
                </a:solidFill>
                <a:latin typeface="Avenir Next"/>
                <a:ea typeface="Avenir Next"/>
                <a:cs typeface="Avenir Next"/>
              </a:rPr>
              <a:t>BEFORE</a:t>
            </a:r>
          </a:p>
        </p:txBody>
      </p:sp>
      <p:sp>
        <p:nvSpPr>
          <p:cNvPr id="7" name="">
            <a:extLst xmlns:a="http://schemas.openxmlformats.org/drawingml/2006/main">
              <a:ext uri="{FF2B5EF4-FFF2-40B4-BE49-F238E27FC236}">
                <a16:creationId xmlns:a16="http://schemas.microsoft.com/office/drawing/2014/main" id="{3742395C-552B-4C1E-AE35-829646D6A6D3}"/>
              </a:ext>
            </a:extLst>
          </p:cNvPr>
          <p:cNvSpPr>
            <a:spLocks xmlns:a="http://schemas.openxmlformats.org/drawingml/2006/main" noGrp="1"/>
          </p:cNvSpPr>
          <p:nvPr/>
        </p:nvSpPr>
        <p:spPr>
          <a:xfrm xmlns:a="http://schemas.openxmlformats.org/drawingml/2006/main">
            <a:off x="552450" y="2400300"/>
            <a:ext cx="3238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Preparedness</a:t>
            </a:r>
          </a:p>
        </p:txBody>
      </p:sp>
      <p:sp>
        <p:nvSpPr>
          <p:cNvPr id="8" name="">
            <a:extLst xmlns:a="http://schemas.openxmlformats.org/drawingml/2006/main">
              <a:ext uri="{FF2B5EF4-FFF2-40B4-BE49-F238E27FC236}">
                <a16:creationId xmlns:a16="http://schemas.microsoft.com/office/drawing/2014/main" id="{48626E71-16FB-4E9C-9A7A-428E06BC9971}"/>
              </a:ext>
            </a:extLst>
          </p:cNvPr>
          <p:cNvSpPr>
            <a:spLocks xmlns:a="http://schemas.openxmlformats.org/drawingml/2006/main" noGrp="1"/>
          </p:cNvSpPr>
          <p:nvPr/>
        </p:nvSpPr>
        <p:spPr>
          <a:xfrm xmlns:a="http://schemas.openxmlformats.org/drawingml/2006/main">
            <a:off x="552450" y="2933700"/>
            <a:ext cx="3238500" cy="38100"/>
          </a:xfrm>
          <a:prstGeom xmlns:a="http://schemas.openxmlformats.org/drawingml/2006/main" prst="rect">
            <a:avLst/>
          </a:prstGeom>
          <a:solidFill xmlns:a="http://schemas.openxmlformats.org/drawingml/2006/main">
            <a:srgbClr val="C65D3B"/>
          </a:solidFill>
          <a:ln xmlns:a="http://schemas.openxmlformats.org/drawingml/2006/main" w="0">
            <a:solidFill>
              <a:srgbClr val="000000">
                <a:alpha val="0"/>
              </a:srgbClr>
            </a:solidFill>
          </a:ln>
        </p:spPr>
      </p:sp>
      <p:sp>
        <p:nvSpPr>
          <p:cNvPr id="9" name="">
            <a:extLst xmlns:a="http://schemas.openxmlformats.org/drawingml/2006/main">
              <a:ext uri="{FF2B5EF4-FFF2-40B4-BE49-F238E27FC236}">
                <a16:creationId xmlns:a16="http://schemas.microsoft.com/office/drawing/2014/main" id="{A6298748-9D7F-4AF7-BC81-99B45D958368}"/>
              </a:ext>
            </a:extLst>
          </p:cNvPr>
          <p:cNvSpPr>
            <a:spLocks xmlns:a="http://schemas.openxmlformats.org/drawingml/2006/main" noGrp="1"/>
          </p:cNvSpPr>
          <p:nvPr/>
        </p:nvSpPr>
        <p:spPr>
          <a:xfrm xmlns:a="http://schemas.openxmlformats.org/drawingml/2006/main">
            <a:off x="552450" y="3181350"/>
            <a:ext cx="3238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8CCD2"/>
                </a:solidFill>
                <a:latin typeface="Avenir Next"/>
                <a:ea typeface="Avenir Next"/>
                <a:cs typeface="Avenir Next"/>
              </a:defRPr>
            </a:pPr>
            <a:r>
              <a:rPr sz="1350" b="0">
                <a:solidFill>
                  <a:srgbClr val="C8CCD2"/>
                </a:solidFill>
                <a:latin typeface="Avenir Next"/>
                <a:ea typeface="Avenir Next"/>
                <a:cs typeface="Avenir Next"/>
              </a:rPr>
              <a:t>Understand climate exposure, accessibility gaps, and community capacity.</a:t>
            </a:r>
          </a:p>
        </p:txBody>
      </p:sp>
      <p:sp>
        <p:nvSpPr>
          <p:cNvPr id="10" name="">
            <a:extLst xmlns:a="http://schemas.openxmlformats.org/drawingml/2006/main">
              <a:ext uri="{FF2B5EF4-FFF2-40B4-BE49-F238E27FC236}">
                <a16:creationId xmlns:a16="http://schemas.microsoft.com/office/drawing/2014/main" id="{46C92BA6-40A9-4ECF-AB6F-BBCD004A7B3B}"/>
              </a:ext>
            </a:extLst>
          </p:cNvPr>
          <p:cNvSpPr>
            <a:spLocks xmlns:a="http://schemas.openxmlformats.org/drawingml/2006/main" noGrp="1"/>
          </p:cNvSpPr>
          <p:nvPr/>
        </p:nvSpPr>
        <p:spPr>
          <a:xfrm xmlns:a="http://schemas.openxmlformats.org/drawingml/2006/main">
            <a:off x="4248150" y="209550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D9B26F"/>
                </a:solidFill>
                <a:latin typeface="Avenir Next"/>
                <a:ea typeface="Avenir Next"/>
                <a:cs typeface="Avenir Next"/>
              </a:defRPr>
            </a:pPr>
            <a:r>
              <a:rPr sz="900" b="1">
                <a:solidFill>
                  <a:srgbClr val="D9B26F"/>
                </a:solidFill>
                <a:latin typeface="Avenir Next"/>
                <a:ea typeface="Avenir Next"/>
                <a:cs typeface="Avenir Next"/>
              </a:rPr>
              <a:t>DURING</a:t>
            </a:r>
          </a:p>
        </p:txBody>
      </p:sp>
      <p:sp>
        <p:nvSpPr>
          <p:cNvPr id="11" name="">
            <a:extLst xmlns:a="http://schemas.openxmlformats.org/drawingml/2006/main">
              <a:ext uri="{FF2B5EF4-FFF2-40B4-BE49-F238E27FC236}">
                <a16:creationId xmlns:a16="http://schemas.microsoft.com/office/drawing/2014/main" id="{23019F49-F6A1-4EBC-BFF6-0E21D6E812CA}"/>
              </a:ext>
            </a:extLst>
          </p:cNvPr>
          <p:cNvSpPr>
            <a:spLocks xmlns:a="http://schemas.openxmlformats.org/drawingml/2006/main" noGrp="1"/>
          </p:cNvSpPr>
          <p:nvPr/>
        </p:nvSpPr>
        <p:spPr>
          <a:xfrm xmlns:a="http://schemas.openxmlformats.org/drawingml/2006/main">
            <a:off x="4248150" y="2400300"/>
            <a:ext cx="3238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Coordination</a:t>
            </a:r>
          </a:p>
        </p:txBody>
      </p:sp>
      <p:sp>
        <p:nvSpPr>
          <p:cNvPr id="12" name="">
            <a:extLst xmlns:a="http://schemas.openxmlformats.org/drawingml/2006/main">
              <a:ext uri="{FF2B5EF4-FFF2-40B4-BE49-F238E27FC236}">
                <a16:creationId xmlns:a16="http://schemas.microsoft.com/office/drawing/2014/main" id="{A935B603-4C5E-47F8-AB23-71911FAB712F}"/>
              </a:ext>
            </a:extLst>
          </p:cNvPr>
          <p:cNvSpPr>
            <a:spLocks xmlns:a="http://schemas.openxmlformats.org/drawingml/2006/main" noGrp="1"/>
          </p:cNvSpPr>
          <p:nvPr/>
        </p:nvSpPr>
        <p:spPr>
          <a:xfrm xmlns:a="http://schemas.openxmlformats.org/drawingml/2006/main">
            <a:off x="4248150" y="2933700"/>
            <a:ext cx="3238500" cy="38100"/>
          </a:xfrm>
          <a:prstGeom xmlns:a="http://schemas.openxmlformats.org/drawingml/2006/main" prst="rect">
            <a:avLst/>
          </a:prstGeom>
          <a:solidFill xmlns:a="http://schemas.openxmlformats.org/drawingml/2006/main">
            <a:srgbClr val="D9B26F"/>
          </a:solidFill>
          <a:ln xmlns:a="http://schemas.openxmlformats.org/drawingml/2006/main" w="0">
            <a:solidFill>
              <a:srgbClr val="000000">
                <a:alpha val="0"/>
              </a:srgbClr>
            </a:solidFill>
          </a:ln>
        </p:spPr>
      </p:sp>
      <p:sp>
        <p:nvSpPr>
          <p:cNvPr id="13" name="">
            <a:extLst xmlns:a="http://schemas.openxmlformats.org/drawingml/2006/main">
              <a:ext uri="{FF2B5EF4-FFF2-40B4-BE49-F238E27FC236}">
                <a16:creationId xmlns:a16="http://schemas.microsoft.com/office/drawing/2014/main" id="{D19F01AD-7844-4771-865A-006B7D49638B}"/>
              </a:ext>
            </a:extLst>
          </p:cNvPr>
          <p:cNvSpPr>
            <a:spLocks xmlns:a="http://schemas.openxmlformats.org/drawingml/2006/main" noGrp="1"/>
          </p:cNvSpPr>
          <p:nvPr/>
        </p:nvSpPr>
        <p:spPr>
          <a:xfrm xmlns:a="http://schemas.openxmlformats.org/drawingml/2006/main">
            <a:off x="4248150" y="3181350"/>
            <a:ext cx="3238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8CCD2"/>
                </a:solidFill>
                <a:latin typeface="Avenir Next"/>
                <a:ea typeface="Avenir Next"/>
                <a:cs typeface="Avenir Next"/>
              </a:defRPr>
            </a:pPr>
            <a:r>
              <a:rPr sz="1350" b="0">
                <a:solidFill>
                  <a:srgbClr val="C8CCD2"/>
                </a:solidFill>
                <a:latin typeface="Avenir Next"/>
                <a:ea typeface="Avenir Next"/>
                <a:cs typeface="Avenir Next"/>
              </a:rPr>
              <a:t>Prioritize vulnerability, verify resources, route aid, and communicate clearly.</a:t>
            </a:r>
          </a:p>
        </p:txBody>
      </p:sp>
      <p:sp>
        <p:nvSpPr>
          <p:cNvPr id="14" name="">
            <a:extLst xmlns:a="http://schemas.openxmlformats.org/drawingml/2006/main">
              <a:ext uri="{FF2B5EF4-FFF2-40B4-BE49-F238E27FC236}">
                <a16:creationId xmlns:a16="http://schemas.microsoft.com/office/drawing/2014/main" id="{1C6DEED4-96A2-4FB4-AB18-6D8DB87E2098}"/>
              </a:ext>
            </a:extLst>
          </p:cNvPr>
          <p:cNvSpPr>
            <a:spLocks xmlns:a="http://schemas.openxmlformats.org/drawingml/2006/main" noGrp="1"/>
          </p:cNvSpPr>
          <p:nvPr/>
        </p:nvSpPr>
        <p:spPr>
          <a:xfrm xmlns:a="http://schemas.openxmlformats.org/drawingml/2006/main">
            <a:off x="7943850" y="2095500"/>
            <a:ext cx="3238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D9B26F"/>
                </a:solidFill>
                <a:latin typeface="Avenir Next"/>
                <a:ea typeface="Avenir Next"/>
                <a:cs typeface="Avenir Next"/>
              </a:defRPr>
            </a:pPr>
            <a:r>
              <a:rPr sz="900" b="1">
                <a:solidFill>
                  <a:srgbClr val="D9B26F"/>
                </a:solidFill>
                <a:latin typeface="Avenir Next"/>
                <a:ea typeface="Avenir Next"/>
                <a:cs typeface="Avenir Next"/>
              </a:rPr>
              <a:t>AFTER</a:t>
            </a:r>
          </a:p>
        </p:txBody>
      </p:sp>
      <p:sp>
        <p:nvSpPr>
          <p:cNvPr id="15" name="">
            <a:extLst xmlns:a="http://schemas.openxmlformats.org/drawingml/2006/main">
              <a:ext uri="{FF2B5EF4-FFF2-40B4-BE49-F238E27FC236}">
                <a16:creationId xmlns:a16="http://schemas.microsoft.com/office/drawing/2014/main" id="{F87B7F49-5960-4441-B970-B467CD100BF9}"/>
              </a:ext>
            </a:extLst>
          </p:cNvPr>
          <p:cNvSpPr>
            <a:spLocks xmlns:a="http://schemas.openxmlformats.org/drawingml/2006/main" noGrp="1"/>
          </p:cNvSpPr>
          <p:nvPr/>
        </p:nvSpPr>
        <p:spPr>
          <a:xfrm xmlns:a="http://schemas.openxmlformats.org/drawingml/2006/main">
            <a:off x="7943850" y="2400300"/>
            <a:ext cx="3238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Accountability</a:t>
            </a:r>
          </a:p>
        </p:txBody>
      </p:sp>
      <p:sp>
        <p:nvSpPr>
          <p:cNvPr id="16" name="">
            <a:extLst xmlns:a="http://schemas.openxmlformats.org/drawingml/2006/main">
              <a:ext uri="{FF2B5EF4-FFF2-40B4-BE49-F238E27FC236}">
                <a16:creationId xmlns:a16="http://schemas.microsoft.com/office/drawing/2014/main" id="{662F91F3-C9D5-4CF5-9E54-DC60C195D293}"/>
              </a:ext>
            </a:extLst>
          </p:cNvPr>
          <p:cNvSpPr>
            <a:spLocks xmlns:a="http://schemas.openxmlformats.org/drawingml/2006/main" noGrp="1"/>
          </p:cNvSpPr>
          <p:nvPr/>
        </p:nvSpPr>
        <p:spPr>
          <a:xfrm xmlns:a="http://schemas.openxmlformats.org/drawingml/2006/main">
            <a:off x="7943850" y="2933700"/>
            <a:ext cx="3238500" cy="38100"/>
          </a:xfrm>
          <a:prstGeom xmlns:a="http://schemas.openxmlformats.org/drawingml/2006/main" prst="rect">
            <a:avLst/>
          </a:prstGeom>
          <a:solidFill xmlns:a="http://schemas.openxmlformats.org/drawingml/2006/main">
            <a:srgbClr val="C65D3B"/>
          </a:solidFill>
          <a:ln xmlns:a="http://schemas.openxmlformats.org/drawingml/2006/main" w="0">
            <a:solidFill>
              <a:srgbClr val="000000">
                <a:alpha val="0"/>
              </a:srgbClr>
            </a:solidFill>
          </a:ln>
        </p:spPr>
      </p:sp>
      <p:sp>
        <p:nvSpPr>
          <p:cNvPr id="17" name="">
            <a:extLst xmlns:a="http://schemas.openxmlformats.org/drawingml/2006/main">
              <a:ext uri="{FF2B5EF4-FFF2-40B4-BE49-F238E27FC236}">
                <a16:creationId xmlns:a16="http://schemas.microsoft.com/office/drawing/2014/main" id="{364DC5E1-2ED7-4DD7-B66B-5353FC52D6C6}"/>
              </a:ext>
            </a:extLst>
          </p:cNvPr>
          <p:cNvSpPr>
            <a:spLocks xmlns:a="http://schemas.openxmlformats.org/drawingml/2006/main" noGrp="1"/>
          </p:cNvSpPr>
          <p:nvPr/>
        </p:nvSpPr>
        <p:spPr>
          <a:xfrm xmlns:a="http://schemas.openxmlformats.org/drawingml/2006/main">
            <a:off x="7943850" y="3181350"/>
            <a:ext cx="3238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8CCD2"/>
                </a:solidFill>
                <a:latin typeface="Avenir Next"/>
                <a:ea typeface="Avenir Next"/>
                <a:cs typeface="Avenir Next"/>
              </a:defRPr>
            </a:pPr>
            <a:r>
              <a:rPr sz="1350" b="0">
                <a:solidFill>
                  <a:srgbClr val="C8CCD2"/>
                </a:solidFill>
                <a:latin typeface="Avenir Next"/>
                <a:ea typeface="Avenir Next"/>
                <a:cs typeface="Avenir Next"/>
              </a:rPr>
              <a:t>Review evidence, decisions, response gaps, and readiness improvements.</a:t>
            </a:r>
          </a:p>
        </p:txBody>
      </p:sp>
      <p:sp>
        <p:nvSpPr>
          <p:cNvPr id="18" name="">
            <a:extLst xmlns:a="http://schemas.openxmlformats.org/drawingml/2006/main">
              <a:ext uri="{FF2B5EF4-FFF2-40B4-BE49-F238E27FC236}">
                <a16:creationId xmlns:a16="http://schemas.microsoft.com/office/drawing/2014/main" id="{FE6C68A9-422B-4C1A-8986-C9AF80918470}"/>
              </a:ext>
            </a:extLst>
          </p:cNvPr>
          <p:cNvSpPr>
            <a:spLocks xmlns:a="http://schemas.openxmlformats.org/drawingml/2006/main" noGrp="1"/>
          </p:cNvSpPr>
          <p:nvPr/>
        </p:nvSpPr>
        <p:spPr>
          <a:xfrm xmlns:a="http://schemas.openxmlformats.org/drawingml/2006/main">
            <a:off x="1104900" y="4743450"/>
            <a:ext cx="9982200" cy="1047750"/>
          </a:xfrm>
          <a:prstGeom xmlns:a="http://schemas.openxmlformats.org/drawingml/2006/main" prst="roundRect">
            <a:avLst>
              <a:gd name="adj" fmla="val 9091"/>
            </a:avLst>
          </a:prstGeom>
          <a:solidFill xmlns:a="http://schemas.openxmlformats.org/drawingml/2006/main">
            <a:srgbClr val="F7F7F5"/>
          </a:solidFill>
          <a:ln xmlns:a="http://schemas.openxmlformats.org/drawingml/2006/main" w="0">
            <a:solidFill>
              <a:srgbClr val="000000">
                <a:alpha val="0"/>
              </a:srgbClr>
            </a:solidFill>
          </a:ln>
        </p:spPr>
        <p:txBody>
          <a:bodyPr xmlns:a="http://schemas.openxmlformats.org/drawingml/2006/main" lIns="228600" tIns="228600" rIns="228600" bIns="228600" anchor="ctr">
            <a:normAutofit fontScale="85260"/>
          </a:bodyPr>
          <a:lstStyle xmlns:a="http://schemas.openxmlformats.org/drawingml/2006/main"/>
          <a:p xmlns:a="http://schemas.openxmlformats.org/drawingml/2006/main">
            <a:pPr algn="ctr">
              <a:defRPr sz="2325" b="1">
                <a:solidFill>
                  <a:srgbClr val="121722"/>
                </a:solidFill>
                <a:latin typeface="Avenir Next"/>
                <a:ea typeface="Avenir Next"/>
                <a:cs typeface="Avenir Next"/>
              </a:defRPr>
            </a:pPr>
            <a:r>
              <a:rPr sz="2325" b="1">
                <a:solidFill>
                  <a:srgbClr val="121722"/>
                </a:solidFill>
                <a:latin typeface="Avenir Next"/>
                <a:ea typeface="Avenir Next"/>
                <a:cs typeface="Avenir Next"/>
              </a:rPr>
              <a:t>One request. The right verified help. A coordinated response people can trust.</a:t>
            </a:r>
          </a:p>
        </p:txBody>
      </p:sp>
      <p:sp>
        <p:nvSpPr>
          <p:cNvPr id="19" name="">
            <a:extLst xmlns:a="http://schemas.openxmlformats.org/drawingml/2006/main">
              <a:ext uri="{FF2B5EF4-FFF2-40B4-BE49-F238E27FC236}">
                <a16:creationId xmlns:a16="http://schemas.microsoft.com/office/drawing/2014/main" id="{81DE59D7-55CB-48A1-B87F-D06531348B76}"/>
              </a:ext>
            </a:extLst>
          </p:cNvPr>
          <p:cNvSpPr>
            <a:spLocks xmlns:a="http://schemas.openxmlformats.org/drawingml/2006/main" noGrp="1"/>
          </p:cNvSpPr>
          <p:nvPr/>
        </p:nvSpPr>
        <p:spPr>
          <a:xfrm xmlns:a="http://schemas.openxmlformats.org/drawingml/2006/main">
            <a:off x="6191250" y="6457950"/>
            <a:ext cx="457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A9ADB4"/>
                </a:solidFill>
                <a:latin typeface="Avenir Next"/>
                <a:ea typeface="Avenir Next"/>
                <a:cs typeface="Avenir Next"/>
              </a:defRPr>
            </a:pPr>
            <a:r>
              <a:rPr sz="675" b="0">
                <a:solidFill>
                  <a:srgbClr val="A9ADB4"/>
                </a:solidFill>
                <a:latin typeface="Avenir Next"/>
                <a:ea typeface="Avenir Next"/>
                <a:cs typeface="Avenir Next"/>
              </a:rPr>
              <a:t>AEGIS closing thesis</a:t>
            </a:r>
          </a:p>
        </p:txBody>
      </p:sp>
    </p:spTree>
    <p:extLst>
      <p:ext uri="{BB962C8B-B14F-4D97-AF65-F5344CB8AC3E}">
        <p14:creationId xmlns:p14="http://schemas.microsoft.com/office/powerpoint/2010/main" val="916109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2026-07-04T20:20:01.1650000Z</dcterms:created>
  <dcterms:modified xsi:type="dcterms:W3CDTF">2026-07-04T20:20:01.1650000Z</dcterms:modified>
</coreProperties>
</file>